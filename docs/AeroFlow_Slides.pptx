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a11462d0c548ff" /><Relationship Type="http://schemas.openxmlformats.org/officeDocument/2006/relationships/extended-properties" Target="/docProps/app.xml" Id="R23d169e845344e3f" /><Relationship Type="http://schemas.openxmlformats.org/officeDocument/2006/relationships/officeDocument" Target="/ppt/presentation.xml" Id="Rf82340c3f2464df6" /></Relationships>
</file>

<file path=ppt/presentation.xml><?xml version="1.0" encoding="utf-8"?>
<p:presentation xmlns:p="http://schemas.openxmlformats.org/presentationml/2006/main">
  <p:sldMasterIdLst>
    <p:sldMasterId xmlns:r="http://schemas.openxmlformats.org/officeDocument/2006/relationships" id="2147483648" r:id="R13fde31d62174d84"/>
  </p:sldMasterIdLst>
  <p:notesMasterIdLst>
    <p:notesMasterId xmlns:r="http://schemas.openxmlformats.org/officeDocument/2006/relationships" r:id="R67399082fc164a8d"/>
  </p:notesMasterIdLst>
  <p:sldIdLst>
    <p:sldId xmlns:r="http://schemas.openxmlformats.org/officeDocument/2006/relationships" id="256" r:id="R765cc2937a29424f"/>
    <p:sldId xmlns:r="http://schemas.openxmlformats.org/officeDocument/2006/relationships" id="257" r:id="R05d576feaafc4ca5"/>
    <p:sldId xmlns:r="http://schemas.openxmlformats.org/officeDocument/2006/relationships" id="258" r:id="R1afb450a373b4c7f"/>
    <p:sldId xmlns:r="http://schemas.openxmlformats.org/officeDocument/2006/relationships" id="259" r:id="Re3e5408c302d496c"/>
    <p:sldId xmlns:r="http://schemas.openxmlformats.org/officeDocument/2006/relationships" id="260" r:id="R6cdcb34929714a2b"/>
    <p:sldId xmlns:r="http://schemas.openxmlformats.org/officeDocument/2006/relationships" id="261" r:id="R081456240ef94905"/>
    <p:sldId xmlns:r="http://schemas.openxmlformats.org/officeDocument/2006/relationships" id="262" r:id="R4a328ee2d7fc43c6"/>
    <p:sldId xmlns:r="http://schemas.openxmlformats.org/officeDocument/2006/relationships" id="263" r:id="Rd13c1c9aa7f04a46"/>
    <p:sldId xmlns:r="http://schemas.openxmlformats.org/officeDocument/2006/relationships" id="264" r:id="R316b4023c6214a43"/>
    <p:sldId xmlns:r="http://schemas.openxmlformats.org/officeDocument/2006/relationships" id="265" r:id="Rf1bae1a18e084f71"/>
    <p:sldId xmlns:r="http://schemas.openxmlformats.org/officeDocument/2006/relationships" id="266" r:id="R322b80515f744514"/>
    <p:sldId xmlns:r="http://schemas.openxmlformats.org/officeDocument/2006/relationships" id="267" r:id="R8c2c5e38327840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a03011a94746fc" /><Relationship Type="http://schemas.openxmlformats.org/officeDocument/2006/relationships/slideMaster" Target="/ppt/slideMasters/slideMaster1.xml" Id="R13fde31d62174d84" /><Relationship Type="http://schemas.openxmlformats.org/officeDocument/2006/relationships/notesMaster" Target="/ppt/notesMasters/notesMaster1.xml" Id="R67399082fc164a8d" /><Relationship Type="http://schemas.openxmlformats.org/officeDocument/2006/relationships/presProps" Target="/ppt/presProps.xml" Id="R20e6c4e0e0b6455b" /><Relationship Type="http://schemas.openxmlformats.org/officeDocument/2006/relationships/tableStyles" Target="/ppt/tableStyles.xml" Id="R2e1e4a7a304b4f1c" /><Relationship Type="http://schemas.openxmlformats.org/officeDocument/2006/relationships/slide" Target="/ppt/slides/slide1.xml" Id="R765cc2937a29424f" /><Relationship Type="http://schemas.openxmlformats.org/officeDocument/2006/relationships/slide" Target="/ppt/slides/slide2.xml" Id="R05d576feaafc4ca5" /><Relationship Type="http://schemas.openxmlformats.org/officeDocument/2006/relationships/slide" Target="/ppt/slides/slide3.xml" Id="R1afb450a373b4c7f" /><Relationship Type="http://schemas.openxmlformats.org/officeDocument/2006/relationships/slide" Target="/ppt/slides/slide4.xml" Id="Re3e5408c302d496c" /><Relationship Type="http://schemas.openxmlformats.org/officeDocument/2006/relationships/slide" Target="/ppt/slides/slide5.xml" Id="R6cdcb34929714a2b" /><Relationship Type="http://schemas.openxmlformats.org/officeDocument/2006/relationships/slide" Target="/ppt/slides/slide6.xml" Id="R081456240ef94905" /><Relationship Type="http://schemas.openxmlformats.org/officeDocument/2006/relationships/slide" Target="/ppt/slides/slide7.xml" Id="R4a328ee2d7fc43c6" /><Relationship Type="http://schemas.openxmlformats.org/officeDocument/2006/relationships/slide" Target="/ppt/slides/slide8.xml" Id="Rd13c1c9aa7f04a46" /><Relationship Type="http://schemas.openxmlformats.org/officeDocument/2006/relationships/slide" Target="/ppt/slides/slide9.xml" Id="R316b4023c6214a43" /><Relationship Type="http://schemas.openxmlformats.org/officeDocument/2006/relationships/slide" Target="/ppt/slides/slide10.xml" Id="Rf1bae1a18e084f71" /><Relationship Type="http://schemas.openxmlformats.org/officeDocument/2006/relationships/slide" Target="/ppt/slides/slide11.xml" Id="R322b80515f744514" /><Relationship Type="http://schemas.openxmlformats.org/officeDocument/2006/relationships/slide" Target="/ppt/slides/slide12.xml" Id="R8c2c5e38327840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4f7f94677f43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1566a8a22c4f22" /><Relationship Type="http://schemas.openxmlformats.org/officeDocument/2006/relationships/notesMaster" Target="/ppt/notesMasters/notesMaster1.xml" Id="R572911fd922949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9f3336bc0749c1" /><Relationship Type="http://schemas.openxmlformats.org/officeDocument/2006/relationships/notesMaster" Target="/ppt/notesMasters/notesMaster1.xml" Id="Rf05f9a4fdbb643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6f60de24ba4766" /><Relationship Type="http://schemas.openxmlformats.org/officeDocument/2006/relationships/notesMaster" Target="/ppt/notesMasters/notesMaster1.xml" Id="R73bdcb6507544e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f35f06eeb644f1" /><Relationship Type="http://schemas.openxmlformats.org/officeDocument/2006/relationships/notesMaster" Target="/ppt/notesMasters/notesMaster1.xml" Id="R73c2facb16284e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c14bd1bd6d4420" /><Relationship Type="http://schemas.openxmlformats.org/officeDocument/2006/relationships/notesMaster" Target="/ppt/notesMasters/notesMaster1.xml" Id="R9ce08ab6eef148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4f8ca96d0746bd" /><Relationship Type="http://schemas.openxmlformats.org/officeDocument/2006/relationships/notesMaster" Target="/ppt/notesMasters/notesMaster1.xml" Id="Rba04a37cd8164d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0cba107776405c" /><Relationship Type="http://schemas.openxmlformats.org/officeDocument/2006/relationships/notesMaster" Target="/ppt/notesMasters/notesMaster1.xml" Id="R6905ae92843f43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5754dcae6c4bfb" /><Relationship Type="http://schemas.openxmlformats.org/officeDocument/2006/relationships/notesMaster" Target="/ppt/notesMasters/notesMaster1.xml" Id="R1034b4155d6940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f56c5f769e4349" /><Relationship Type="http://schemas.openxmlformats.org/officeDocument/2006/relationships/notesMaster" Target="/ppt/notesMasters/notesMaster1.xml" Id="R6637610206b04a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32d9c56a444f3c" /><Relationship Type="http://schemas.openxmlformats.org/officeDocument/2006/relationships/notesMaster" Target="/ppt/notesMasters/notesMaster1.xml" Id="R30a456fc015c4c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a7a934f6a34ad7" /><Relationship Type="http://schemas.openxmlformats.org/officeDocument/2006/relationships/notesMaster" Target="/ppt/notesMasters/notesMaster1.xml" Id="Rd3c895e8247944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5d42f9a0ba4b5e" /><Relationship Type="http://schemas.openxmlformats.org/officeDocument/2006/relationships/notesMaster" Target="/ppt/notesMasters/notesMaster1.xml" Id="Re50b1d01767d47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00:00–00:30. Giới thiệu đề tài AeroFlow và trọng tâm toàn vẹn dữ liệu. Báo cáo đi kèm có chỗ bổ sung thông tin sinh viên. Nguồn yêu cầu: docs/assignment.pdf, 3 trang. Dữ liệu vé/thanh toán đều là mô phỏng học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00:30–01:30. Đối chiếu PDF: tối thiểu6 bảng,10 truy vấn,3 procedure,2 function,3 view. AeroFlow vượt số lượng tối thiểu bằng objects thực sự được dùng. Nguồn: requirements matrix và database-inventory.json, ngày12/10/2026.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01:30–02:15. Frontend gọi REST JSON cùng origin, session cookie và CSRF. Flask validation/permission trước pyodbc bind parameters. SQL Server quyết định giá và trạng thái. Không ORM hoặc dữ liệu chuyến bay hard-code. Nguồn: 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02:15–03:15. Đây là ERD rút gọn phần booking. ERD đầy đủ16 bảng, PK/FK và kiểu cột có trong docs/ERD.svg, ERD.md và báo cáo. BP liên kết booking/hành khách/hạng. Tickets có UNIQUE BP và Assignment. Assignments giữ FlightID/SeatID/IsActive để unique filtered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03:15–04:00. Giải thích1NF tách mảng thành hàng;2NF FlightFares phụ thuộc cặp Flight/FareClass;3NF tách danh mục và không lặp AircraftID/BookingID trong Assignment. Amount/RefundPercent trên vé là điều khoản tại lần mua, có ngữ nghĩa lịch sử riêng. Nguồn: DATABASE_DESIGN.md.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04:00–05:00. Chỉ ra PK/FK/CHECK/NOT NULL/DEFAULT/UNIQUE trong02/03. Unique index filtered không cho hai assignment active trên cùng flight/seat. Inactive giữ lịch sử và cho phép bán lại. Constraint test đã chạy thật và direct insert duplicate bị từ chối.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05:00–06:30. Demo concurrency test dùng Barrier và2 clients. Isolation READ COMMITTED, applock Exclusive theo FlightID, owner Transaction. T2 đợi T1 rồi đọc lại. Chỉ1 request201, request còn lại409. Rollback cho phép khách đợi tiếp tục nếu T1 lỗi. Nguồn: sp_LockFlight, sp_CreateBooking, test_two_customers_same_seat_concurrently.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06:30–07:30. Demo failed rồi success. Idempotency UUID, unique key toàn cục, unique charge success/booking. Hai payment cùng key trả cùng PaymentID. Hold10phút UTC; hủy tự nguyện trước24h hoàn theo snapshot. Hãng hủy hoàn100%. Nguồn: procedures và payment/cancellation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07:30–09:00. Mở ứng dụng demo: tìm HAN→SGN, FLEX, A1, nhập dữ liệu giả, tạoPNR, fail payment rồi success, xem vé. Ảnh là lần kiểm tra thật trên localhost/SQLServer ngày12/10/2026, không phải mockup. Customer booking41 giá1.595.000VND, hủy hoàn80%=1.276.000VND. Nguồn evidence/ui-ticket-mobile.jpg.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09:00–10:00. Trình bày net=gross-refunds; FAILED không tính. Biểu đồ lấy trực tiếp vw_MonthlyRevenue sau UI demo, đơn vị triệuVND, gồm dữ liệu seed và giao dịch kiểm tra. Không phải hình chụp dashboard quản trị. Nguồn evidence/revenue-snapshot.json,12/10/2026.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10:00–12:00. Mở JUnit39pass và chạy demo fault injection SQL DBtest. Fault sau insertbooking/passenger/BP/assignment, trước hoàn tất ticket: sáu bảng trước/sau giữ nguyên. 17unit và22integration. Báo rõ không có loadtest/pentest/PowerPoint desktop QA và chưa visual QA toàn bộadmin. Nguồn TESTING.md,pytest-results.xml,sql-checks.json.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12:00–15:00. Theo README: venv,requirements,configure,.env,init,create_user,run. Trình diễn constraintsSQL10, FULLJOIN/GROUPBY/EXCEPT trong09. Nêu thứ tựseed sauSP/trigger. Kết thúc bằng giới hạn kiểm chứng, thông tin sinh viên/inđóngquyển và câu hỏi.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8d6a9b696a48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33f9fe25b242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3f52e509d94f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0d5ededa824c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9cf1687f3e43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9ea585a82044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B86179-0CB0-4DC4-93CA-107B3A2F363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D003D6-F8EB-413F-BA39-EA3E88F3ACA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744D12-5FA5-4332-8FE5-7A134D6132F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1E0E77-FED3-49D9-B09A-65AA2D2CCE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981279-F246-448B-B0F7-BE17CE1AEE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050702-D387-459A-A92C-DEF632F67C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625A69-7E47-4FFD-8EE4-E7B9EE17AA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C48C34-84C2-4B9F-9928-5B32545D81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02DE9A-3240-493B-881A-4E10E044B2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3E4466-41F3-4379-9153-300E2160B3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e7b271579f457e" /><Relationship Type="http://schemas.openxmlformats.org/officeDocument/2006/relationships/slideLayout" Target="/ppt/slideLayouts/slideLayout1.xml" Id="Rd564a9f0bcae437a" /><Relationship Type="http://schemas.openxmlformats.org/officeDocument/2006/relationships/slideLayout" Target="/ppt/slideLayouts/slideLayout2.xml" Id="R1d92befac7ef44e1" /><Relationship Type="http://schemas.openxmlformats.org/officeDocument/2006/relationships/slideLayout" Target="/ppt/slideLayouts/slideLayout3.xml" Id="Reb0209fa6f8846e0" /><Relationship Type="http://schemas.openxmlformats.org/officeDocument/2006/relationships/slideLayout" Target="/ppt/slideLayouts/slideLayout4.xml" Id="Rf40f7f5cb235483c" /><Relationship Type="http://schemas.openxmlformats.org/officeDocument/2006/relationships/slideLayout" Target="/ppt/slideLayouts/slideLayout5.xml" Id="Rd0b09aa543784472" /><Relationship Type="http://schemas.openxmlformats.org/officeDocument/2006/relationships/slideLayout" Target="/ppt/slideLayouts/slideLayout6.xml" Id="R5dc2e5195e1346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64a9f0bcae437a"/>
    <p:sldLayoutId xmlns:r="http://schemas.openxmlformats.org/officeDocument/2006/relationships" id="2147483650" r:id="R1d92befac7ef44e1"/>
    <p:sldLayoutId xmlns:r="http://schemas.openxmlformats.org/officeDocument/2006/relationships" id="2147483651" r:id="Reb0209fa6f8846e0"/>
    <p:sldLayoutId xmlns:r="http://schemas.openxmlformats.org/officeDocument/2006/relationships" id="2147483652" r:id="Rf40f7f5cb235483c"/>
    <p:sldLayoutId xmlns:r="http://schemas.openxmlformats.org/officeDocument/2006/relationships" id="2147483653" r:id="Rd0b09aa543784472"/>
    <p:sldLayoutId xmlns:r="http://schemas.openxmlformats.org/officeDocument/2006/relationships" id="2147483654" r:id="R5dc2e5195e1346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309319c5de4ce1" /><Relationship Type="http://schemas.openxmlformats.org/officeDocument/2006/relationships/notesSlide" Target="/ppt/notesSlides/notesSlide1.xml" Id="Rd59b017a241541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a9244b2c014bcb" /><Relationship Type="http://schemas.openxmlformats.org/officeDocument/2006/relationships/notesSlide" Target="/ppt/notesSlides/notesSlide2.xml" Id="Ra6dd382367ed4d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5588ad06ae466d" /><Relationship Type="http://schemas.openxmlformats.org/officeDocument/2006/relationships/notesSlide" Target="/ppt/notesSlides/notesSlide3.xml" Id="R695997d0cac04d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921c7d0ec84792" /><Relationship Type="http://schemas.openxmlformats.org/officeDocument/2006/relationships/notesSlide" Target="/ppt/notesSlides/notesSlide4.xml" Id="Rb96895cb4c5746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711e346a514692" /><Relationship Type="http://schemas.openxmlformats.org/officeDocument/2006/relationships/notesSlide" Target="/ppt/notesSlides/notesSlide5.xml" Id="R36413f07639e4e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114b183f6b49d7" /><Relationship Type="http://schemas.openxmlformats.org/officeDocument/2006/relationships/notesSlide" Target="/ppt/notesSlides/notesSlide6.xml" Id="R4f9a5462b3c748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dc91205efd64896" /><Relationship Type="http://schemas.openxmlformats.org/officeDocument/2006/relationships/notesSlide" Target="/ppt/notesSlides/notesSlide7.xml" Id="Rff1899b16cfd46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4174b08512d473c" /><Relationship Type="http://schemas.openxmlformats.org/officeDocument/2006/relationships/notesSlide" Target="/ppt/notesSlides/notesSlide8.xml" Id="Rbf82bb7541e349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2a13d8efc284714" /><Relationship Type="http://schemas.openxmlformats.org/officeDocument/2006/relationships/image" Target="/ppt/media/image.jpeg" Id="Rd924a2db77b949d1" /><Relationship Type="http://schemas.openxmlformats.org/officeDocument/2006/relationships/notesSlide" Target="/ppt/notesSlides/notesSlide9.xml" Id="R486abc1257164b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19a19170fc4909" /><Relationship Type="http://schemas.openxmlformats.org/officeDocument/2006/relationships/chart" Target="/ppt/slides/charts/chart1.xml" Id="R90ed934476f140b8" /><Relationship Type="http://schemas.openxmlformats.org/officeDocument/2006/relationships/notesSlide" Target="/ppt/notesSlides/notesSlide10.xml" Id="R975bcdea136d49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01d8db7e20245ad" /><Relationship Type="http://schemas.openxmlformats.org/officeDocument/2006/relationships/notesSlide" Target="/ppt/notesSlides/notesSlide11.xml" Id="R8bf04df60fa04b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d8866e4493643ea" /><Relationship Type="http://schemas.openxmlformats.org/officeDocument/2006/relationships/notesSlide" Target="/ppt/notesSlides/notesSlide12.xml" Id="Rc078786523464d0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Tiền thu</c:v>
          </c:tx>
          <c:spPr>
            <a:solidFill xmlns:a="http://schemas.openxmlformats.org/drawingml/2006/main">
              <a:srgbClr val="0B7163"/>
            </a:solidFill>
          </c:spPr>
          <c:invertIfNegative val="0"/>
          <c:cat>
            <c:strRef>
              <c:f>'Chart Data'!$A$2:$A$3</c:f>
              <c:strCache>
                <c:ptCount val="2"/>
                <c:pt idx="0">
                  <c:v>9/2026</c:v>
                </c:pt>
                <c:pt idx="1">
                  <c:v>10/2026</c:v>
                </c:pt>
              </c:strCache>
            </c:strRef>
          </c:cat>
          <c:val>
            <c:numRef>
              <c:f>'Chart Data'!$B$2:$B$3</c:f>
              <c:numCache>
                <c:formatCode>General</c:formatCode>
                <c:ptCount val="2"/>
                <c:pt idx="0">
                  <c:v>22.22</c:v>
                </c:pt>
                <c:pt idx="1">
                  <c:v>26.565</c:v>
                </c:pt>
              </c:numCache>
            </c:numRef>
          </c:val>
        </c:ser>
        <c:ser>
          <c:idx val="1"/>
          <c:order val="1"/>
          <c:tx>
            <c:v>Hoàn tiền</c:v>
          </c:tx>
          <c:spPr>
            <a:solidFill xmlns:a="http://schemas.openxmlformats.org/drawingml/2006/main">
              <a:srgbClr val="C59952"/>
            </a:solidFill>
          </c:spPr>
          <c:invertIfNegative val="0"/>
          <c:cat>
            <c:strRef>
              <c:f>'Chart Data'!$C$2:$C$3</c:f>
              <c:strCache>
                <c:ptCount val="2"/>
                <c:pt idx="0">
                  <c:v>9/2026</c:v>
                </c:pt>
                <c:pt idx="1">
                  <c:v>10/2026</c:v>
                </c:pt>
              </c:strCache>
            </c:strRef>
          </c:cat>
          <c:val>
            <c:numRef>
              <c:f>'Chart Data'!$D$2:$D$3</c:f>
              <c:numCache>
                <c:formatCode>General</c:formatCode>
                <c:ptCount val="2"/>
                <c:pt idx="0">
                  <c:v>4.136</c:v>
                </c:pt>
                <c:pt idx="1">
                  <c:v>8.184</c:v>
                </c:pt>
              </c:numCache>
            </c:numRef>
          </c:val>
        </c:ser>
        <c:ser>
          <c:idx val="2"/>
          <c:order val="2"/>
          <c:tx>
            <c:v>Doanh thu ròng</c:v>
          </c:tx>
          <c:spPr>
            <a:solidFill xmlns:a="http://schemas.openxmlformats.org/drawingml/2006/main">
              <a:srgbClr val="547EAE"/>
            </a:solidFill>
          </c:spPr>
          <c:invertIfNegative val="0"/>
          <c:cat>
            <c:strRef>
              <c:f>'Chart Data'!$E$2:$E$3</c:f>
              <c:strCache>
                <c:ptCount val="2"/>
                <c:pt idx="0">
                  <c:v>9/2026</c:v>
                </c:pt>
                <c:pt idx="1">
                  <c:v>10/2026</c:v>
                </c:pt>
              </c:strCache>
            </c:strRef>
          </c:cat>
          <c:val>
            <c:numRef>
              <c:f>'Chart Data'!$F$2:$F$3</c:f>
              <c:numCache>
                <c:formatCode>General</c:formatCode>
                <c:ptCount val="2"/>
                <c:pt idx="0">
                  <c:v>18.084</c:v>
                </c:pt>
                <c:pt idx="1">
                  <c:v>18.381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9DCD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Triệu VND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716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E5C2B3-D171-4370-9183-515E17FAA151}"/>
              </a:ext>
            </a:extLst>
          </p:cNvPr>
          <p:cNvSpPr>
            <a:spLocks xmlns:a="http://schemas.openxmlformats.org/drawingml/2006/main" noGrp="1"/>
          </p:cNvSpPr>
          <p:nvPr/>
        </p:nvSpPr>
        <p:spPr>
          <a:xfrm xmlns:a="http://schemas.openxmlformats.org/drawingml/2006/main">
            <a:off x="742950" y="1762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E2F4E8"/>
                </a:solidFill>
                <a:latin typeface="Arial"/>
                <a:ea typeface="Arial"/>
                <a:cs typeface="Arial"/>
              </a:defRPr>
            </a:defPPr>
          </a:lstStyle>
          <a:p xmlns:a="http://schemas.openxmlformats.org/drawingml/2006/main">
            <a:pPr>
              <a:defRPr sz="6000" b="1">
                <a:solidFill>
                  <a:srgbClr val="E2F4E8"/>
                </a:solidFill>
                <a:latin typeface="Arial"/>
                <a:ea typeface="Arial"/>
                <a:cs typeface="Arial"/>
              </a:defRPr>
            </a:pPr>
            <a:r>
              <a:rPr sz="6000" b="1">
                <a:solidFill>
                  <a:srgbClr val="E2F4E8"/>
                </a:solidFill>
                <a:latin typeface="Arial"/>
                <a:ea typeface="Arial"/>
                <a:cs typeface="Arial"/>
              </a:rPr>
              <a:t>AeroFlow</a:t>
            </a:r>
          </a:p>
        </p:txBody>
      </p:sp>
      <p:sp>
        <p:nvSpPr>
          <p:cNvPr id="2" name="">
            <a:extLst xmlns:a="http://schemas.openxmlformats.org/drawingml/2006/main">
              <a:ext uri="{FF2B5EF4-FFF2-40B4-BE49-F238E27FC236}">
                <a16:creationId xmlns:a16="http://schemas.microsoft.com/office/drawing/2014/main" id="{B5E21466-7A4F-4F32-AAB8-CCF6F423BC0B}"/>
              </a:ext>
            </a:extLst>
          </p:cNvPr>
          <p:cNvSpPr>
            <a:spLocks xmlns:a="http://schemas.openxmlformats.org/drawingml/2006/main" noGrp="1"/>
          </p:cNvSpPr>
          <p:nvPr/>
        </p:nvSpPr>
        <p:spPr>
          <a:xfrm xmlns:a="http://schemas.openxmlformats.org/drawingml/2006/main">
            <a:off x="781050" y="3048000"/>
            <a:ext cx="962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FFFFFF"/>
                </a:solidFill>
                <a:latin typeface="Arial"/>
                <a:ea typeface="Arial"/>
                <a:cs typeface="Arial"/>
              </a:defRPr>
            </a:defPPr>
          </a:lstStyle>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Hệ thống đặt vé máy bay</a:t>
            </a:r>
          </a:p>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và quản trị chuyến bay</a:t>
            </a:r>
          </a:p>
        </p:txBody>
      </p:sp>
      <p:sp>
        <p:nvSpPr>
          <p:cNvPr id="3" name="">
            <a:extLst xmlns:a="http://schemas.openxmlformats.org/drawingml/2006/main">
              <a:ext uri="{FF2B5EF4-FFF2-40B4-BE49-F238E27FC236}">
                <a16:creationId xmlns:a16="http://schemas.microsoft.com/office/drawing/2014/main" id="{1F0F041B-CB55-45FF-8E23-B8750F3F4CBC}"/>
              </a:ext>
            </a:extLst>
          </p:cNvPr>
          <p:cNvSpPr>
            <a:spLocks xmlns:a="http://schemas.openxmlformats.org/drawingml/2006/main" noGrp="1"/>
          </p:cNvSpPr>
          <p:nvPr/>
        </p:nvSpPr>
        <p:spPr>
          <a:xfrm xmlns:a="http://schemas.openxmlformats.org/drawingml/2006/main">
            <a:off x="800100" y="52197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5EAE2"/>
                </a:solidFill>
                <a:latin typeface="Arial"/>
                <a:ea typeface="Arial"/>
                <a:cs typeface="Arial"/>
              </a:defRPr>
            </a:defPPr>
          </a:lstStyle>
          <a:p xmlns:a="http://schemas.openxmlformats.org/drawingml/2006/main">
            <a:pPr>
              <a:defRPr sz="1875" b="0">
                <a:solidFill>
                  <a:srgbClr val="D5EAE2"/>
                </a:solidFill>
                <a:latin typeface="Arial"/>
                <a:ea typeface="Arial"/>
                <a:cs typeface="Arial"/>
              </a:defRPr>
            </a:pPr>
            <a:r>
              <a:rPr sz="1875" b="0">
                <a:solidFill>
                  <a:srgbClr val="D5EAE2"/>
                </a:solidFill>
                <a:latin typeface="Arial"/>
                <a:ea typeface="Arial"/>
                <a:cs typeface="Arial"/>
              </a:rPr>
              <a:t>Bài tập lớn Hệ quản trị cơ sở dữ liệu</a:t>
            </a:r>
          </a:p>
        </p:txBody>
      </p:sp>
      <p:sp>
        <p:nvSpPr>
          <p:cNvPr id="4" name="">
            <a:extLst xmlns:a="http://schemas.openxmlformats.org/drawingml/2006/main">
              <a:ext uri="{FF2B5EF4-FFF2-40B4-BE49-F238E27FC236}">
                <a16:creationId xmlns:a16="http://schemas.microsoft.com/office/drawing/2014/main" id="{2F9676A0-C7D0-403A-9166-B0DBDE398665}"/>
              </a:ext>
            </a:extLst>
          </p:cNvPr>
          <p:cNvSpPr>
            <a:spLocks xmlns:a="http://schemas.openxmlformats.org/drawingml/2006/main" noGrp="1"/>
          </p:cNvSpPr>
          <p:nvPr/>
        </p:nvSpPr>
        <p:spPr>
          <a:xfrm xmlns:a="http://schemas.openxmlformats.org/drawingml/2006/main">
            <a:off x="800100" y="56769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D5EAE2"/>
                </a:solidFill>
                <a:latin typeface="Arial"/>
                <a:ea typeface="Arial"/>
                <a:cs typeface="Arial"/>
              </a:defRPr>
            </a:defPPr>
          </a:lstStyle>
          <a:p xmlns:a="http://schemas.openxmlformats.org/drawingml/2006/main">
            <a:pPr>
              <a:defRPr sz="1725" b="0">
                <a:solidFill>
                  <a:srgbClr val="D5EAE2"/>
                </a:solidFill>
                <a:latin typeface="Arial"/>
                <a:ea typeface="Arial"/>
                <a:cs typeface="Arial"/>
              </a:defRPr>
            </a:pPr>
            <a:r>
              <a:rPr sz="1725" b="0">
                <a:solidFill>
                  <a:srgbClr val="D5EAE2"/>
                </a:solidFill>
                <a:latin typeface="Arial"/>
                <a:ea typeface="Arial"/>
                <a:cs typeface="Arial"/>
              </a:rPr>
              <a:t>Flask + SQL Server Express</a:t>
            </a:r>
          </a:p>
        </p:txBody>
      </p:sp>
    </p:spTree>
    <p:extLst>
      <p:ext uri="{BB962C8B-B14F-4D97-AF65-F5344CB8AC3E}">
        <p14:creationId xmlns:p14="http://schemas.microsoft.com/office/powerpoint/2010/main" val="1772953107"/>
      </p:ext>
    </p:extLst>
  </p:cSld>
</p:sld>
</file>

<file path=ppt/slides/slide2.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1DF4827-16C4-41A8-97CE-2733706757ED}"/>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Phạm vi và yêu cầu DBMS</a:t>
            </a:r>
          </a:p>
        </p:txBody>
      </p:sp>
      <p:sp>
        <p:nvSpPr>
          <p:cNvPr id="2" name="">
            <a:extLst xmlns:a="http://schemas.openxmlformats.org/drawingml/2006/main">
              <a:ext uri="{FF2B5EF4-FFF2-40B4-BE49-F238E27FC236}">
                <a16:creationId xmlns:a16="http://schemas.microsoft.com/office/drawing/2014/main" id="{8579F877-9BDA-4CF7-9AE1-3DCBF5207A6C}"/>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7F2F9E7-B5AA-4C09-8C31-CA8CA21AF3BB}"/>
              </a:ext>
            </a:extLst>
          </p:cNvPr>
          <p:cNvSpPr>
            <a:spLocks xmlns:a="http://schemas.openxmlformats.org/drawingml/2006/main" noGrp="1"/>
          </p:cNvSpPr>
          <p:nvPr/>
        </p:nvSpPr>
        <p:spPr>
          <a:xfrm xmlns:a="http://schemas.openxmlformats.org/drawingml/2006/main">
            <a:off x="762000" y="1695450"/>
            <a:ext cx="300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B7163"/>
                </a:solidFill>
                <a:latin typeface="Arial"/>
                <a:ea typeface="Arial"/>
                <a:cs typeface="Arial"/>
              </a:defRPr>
            </a:defPPr>
          </a:lstStyle>
          <a:p xmlns:a="http://schemas.openxmlformats.org/drawingml/2006/main">
            <a:pPr>
              <a:defRPr sz="2700" b="1">
                <a:solidFill>
                  <a:srgbClr val="0B7163"/>
                </a:solidFill>
                <a:latin typeface="Arial"/>
                <a:ea typeface="Arial"/>
                <a:cs typeface="Arial"/>
              </a:defRPr>
            </a:pPr>
            <a:r>
              <a:rPr sz="2700" b="1">
                <a:solidFill>
                  <a:srgbClr val="0B7163"/>
                </a:solidFill>
                <a:latin typeface="Arial"/>
                <a:ea typeface="Arial"/>
                <a:cs typeface="Arial"/>
              </a:rPr>
              <a:t>16 bảng</a:t>
            </a:r>
          </a:p>
        </p:txBody>
      </p:sp>
      <p:sp>
        <p:nvSpPr>
          <p:cNvPr id="4" name="">
            <a:extLst xmlns:a="http://schemas.openxmlformats.org/drawingml/2006/main">
              <a:ext uri="{FF2B5EF4-FFF2-40B4-BE49-F238E27FC236}">
                <a16:creationId xmlns:a16="http://schemas.microsoft.com/office/drawing/2014/main" id="{20AAFF40-0219-435F-BF5B-984F4CC37339}"/>
              </a:ext>
            </a:extLst>
          </p:cNvPr>
          <p:cNvSpPr>
            <a:spLocks xmlns:a="http://schemas.openxmlformats.org/drawingml/2006/main" noGrp="1"/>
          </p:cNvSpPr>
          <p:nvPr/>
        </p:nvSpPr>
        <p:spPr>
          <a:xfrm xmlns:a="http://schemas.openxmlformats.org/drawingml/2006/main">
            <a:off x="4095750" y="1762125"/>
            <a:ext cx="709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15 bảng nghiệp vụ và 1 bảng log</a:t>
            </a:r>
          </a:p>
        </p:txBody>
      </p:sp>
      <p:sp>
        <p:nvSpPr>
          <p:cNvPr id="5" name="">
            <a:extLst xmlns:a="http://schemas.openxmlformats.org/drawingml/2006/main">
              <a:ext uri="{FF2B5EF4-FFF2-40B4-BE49-F238E27FC236}">
                <a16:creationId xmlns:a16="http://schemas.microsoft.com/office/drawing/2014/main" id="{649B086B-ACD5-41FA-9608-FA1CC3CB9C47}"/>
              </a:ext>
            </a:extLst>
          </p:cNvPr>
          <p:cNvSpPr>
            <a:spLocks xmlns:a="http://schemas.openxmlformats.org/drawingml/2006/main" noGrp="1"/>
          </p:cNvSpPr>
          <p:nvPr/>
        </p:nvSpPr>
        <p:spPr>
          <a:xfrm xmlns:a="http://schemas.openxmlformats.org/drawingml/2006/main">
            <a:off x="762000" y="2476500"/>
            <a:ext cx="10572750" cy="0"/>
          </a:xfrm>
          <a:prstGeom xmlns:a="http://schemas.openxmlformats.org/drawingml/2006/main" prst="line">
            <a:avLst/>
          </a:prstGeom>
          <a:ln xmlns:a="http://schemas.openxmlformats.org/drawingml/2006/main" w="14288">
            <a:solidFill>
              <a:srgbClr val="C9DCD3"/>
            </a:solidFill>
          </a:ln>
        </p:spPr>
      </p:sp>
      <p:sp>
        <p:nvSpPr>
          <p:cNvPr id="6" name="">
            <a:extLst xmlns:a="http://schemas.openxmlformats.org/drawingml/2006/main">
              <a:ext uri="{FF2B5EF4-FFF2-40B4-BE49-F238E27FC236}">
                <a16:creationId xmlns:a16="http://schemas.microsoft.com/office/drawing/2014/main" id="{98A19177-282B-49A1-91DA-BE5DEEB86118}"/>
              </a:ext>
            </a:extLst>
          </p:cNvPr>
          <p:cNvSpPr>
            <a:spLocks xmlns:a="http://schemas.openxmlformats.org/drawingml/2006/main" noGrp="1"/>
          </p:cNvSpPr>
          <p:nvPr/>
        </p:nvSpPr>
        <p:spPr>
          <a:xfrm xmlns:a="http://schemas.openxmlformats.org/drawingml/2006/main">
            <a:off x="762000" y="2733675"/>
            <a:ext cx="300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B7163"/>
                </a:solidFill>
                <a:latin typeface="Arial"/>
                <a:ea typeface="Arial"/>
                <a:cs typeface="Arial"/>
              </a:defRPr>
            </a:defPPr>
          </a:lstStyle>
          <a:p xmlns:a="http://schemas.openxmlformats.org/drawingml/2006/main">
            <a:pPr>
              <a:defRPr sz="2700" b="1">
                <a:solidFill>
                  <a:srgbClr val="0B7163"/>
                </a:solidFill>
                <a:latin typeface="Arial"/>
                <a:ea typeface="Arial"/>
                <a:cs typeface="Arial"/>
              </a:defRPr>
            </a:pPr>
            <a:r>
              <a:rPr sz="2700" b="1">
                <a:solidFill>
                  <a:srgbClr val="0B7163"/>
                </a:solidFill>
                <a:latin typeface="Arial"/>
                <a:ea typeface="Arial"/>
                <a:cs typeface="Arial"/>
              </a:rPr>
              <a:t>18 truy vấn</a:t>
            </a:r>
          </a:p>
        </p:txBody>
      </p:sp>
      <p:sp>
        <p:nvSpPr>
          <p:cNvPr id="7" name="">
            <a:extLst xmlns:a="http://schemas.openxmlformats.org/drawingml/2006/main">
              <a:ext uri="{FF2B5EF4-FFF2-40B4-BE49-F238E27FC236}">
                <a16:creationId xmlns:a16="http://schemas.microsoft.com/office/drawing/2014/main" id="{6D106885-A9E9-46FE-981C-5A6D5A57D38F}"/>
              </a:ext>
            </a:extLst>
          </p:cNvPr>
          <p:cNvSpPr>
            <a:spLocks xmlns:a="http://schemas.openxmlformats.org/drawingml/2006/main" noGrp="1"/>
          </p:cNvSpPr>
          <p:nvPr/>
        </p:nvSpPr>
        <p:spPr>
          <a:xfrm xmlns:a="http://schemas.openxmlformats.org/drawingml/2006/main">
            <a:off x="4095750" y="2800350"/>
            <a:ext cx="709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Đủ JOIN, HAVING, subquery và tập hợp</a:t>
            </a:r>
          </a:p>
        </p:txBody>
      </p:sp>
      <p:sp>
        <p:nvSpPr>
          <p:cNvPr id="8" name="">
            <a:extLst xmlns:a="http://schemas.openxmlformats.org/drawingml/2006/main">
              <a:ext uri="{FF2B5EF4-FFF2-40B4-BE49-F238E27FC236}">
                <a16:creationId xmlns:a16="http://schemas.microsoft.com/office/drawing/2014/main" id="{B72D3821-B783-4AC7-9B82-1D38D148BEFA}"/>
              </a:ext>
            </a:extLst>
          </p:cNvPr>
          <p:cNvSpPr>
            <a:spLocks xmlns:a="http://schemas.openxmlformats.org/drawingml/2006/main" noGrp="1"/>
          </p:cNvSpPr>
          <p:nvPr/>
        </p:nvSpPr>
        <p:spPr>
          <a:xfrm xmlns:a="http://schemas.openxmlformats.org/drawingml/2006/main">
            <a:off x="762000" y="3514725"/>
            <a:ext cx="10572750" cy="0"/>
          </a:xfrm>
          <a:prstGeom xmlns:a="http://schemas.openxmlformats.org/drawingml/2006/main" prst="line">
            <a:avLst/>
          </a:prstGeom>
          <a:ln xmlns:a="http://schemas.openxmlformats.org/drawingml/2006/main" w="14288">
            <a:solidFill>
              <a:srgbClr val="C9DCD3"/>
            </a:solidFill>
          </a:ln>
        </p:spPr>
      </p:sp>
      <p:sp>
        <p:nvSpPr>
          <p:cNvPr id="9" name="">
            <a:extLst xmlns:a="http://schemas.openxmlformats.org/drawingml/2006/main">
              <a:ext uri="{FF2B5EF4-FFF2-40B4-BE49-F238E27FC236}">
                <a16:creationId xmlns:a16="http://schemas.microsoft.com/office/drawing/2014/main" id="{99A7BB7A-BA5F-4459-8D9B-74C2B241C303}"/>
              </a:ext>
            </a:extLst>
          </p:cNvPr>
          <p:cNvSpPr>
            <a:spLocks xmlns:a="http://schemas.openxmlformats.org/drawingml/2006/main" noGrp="1"/>
          </p:cNvSpPr>
          <p:nvPr/>
        </p:nvSpPr>
        <p:spPr>
          <a:xfrm xmlns:a="http://schemas.openxmlformats.org/drawingml/2006/main">
            <a:off x="762000" y="3771900"/>
            <a:ext cx="300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B7163"/>
                </a:solidFill>
                <a:latin typeface="Arial"/>
                <a:ea typeface="Arial"/>
                <a:cs typeface="Arial"/>
              </a:defRPr>
            </a:defPPr>
          </a:lstStyle>
          <a:p xmlns:a="http://schemas.openxmlformats.org/drawingml/2006/main">
            <a:pPr>
              <a:defRPr sz="2700" b="1">
                <a:solidFill>
                  <a:srgbClr val="0B7163"/>
                </a:solidFill>
                <a:latin typeface="Arial"/>
                <a:ea typeface="Arial"/>
                <a:cs typeface="Arial"/>
              </a:defRPr>
            </a:pPr>
            <a:r>
              <a:rPr sz="2700" b="1">
                <a:solidFill>
                  <a:srgbClr val="0B7163"/>
                </a:solidFill>
                <a:latin typeface="Arial"/>
                <a:ea typeface="Arial"/>
                <a:cs typeface="Arial"/>
              </a:rPr>
              <a:t>10 procedures</a:t>
            </a:r>
          </a:p>
        </p:txBody>
      </p:sp>
      <p:sp>
        <p:nvSpPr>
          <p:cNvPr id="10" name="">
            <a:extLst xmlns:a="http://schemas.openxmlformats.org/drawingml/2006/main">
              <a:ext uri="{FF2B5EF4-FFF2-40B4-BE49-F238E27FC236}">
                <a16:creationId xmlns:a16="http://schemas.microsoft.com/office/drawing/2014/main" id="{24A4FAD6-A10D-49C0-8FCC-9D2DD89D8A6E}"/>
              </a:ext>
            </a:extLst>
          </p:cNvPr>
          <p:cNvSpPr>
            <a:spLocks xmlns:a="http://schemas.openxmlformats.org/drawingml/2006/main" noGrp="1"/>
          </p:cNvSpPr>
          <p:nvPr/>
        </p:nvSpPr>
        <p:spPr>
          <a:xfrm xmlns:a="http://schemas.openxmlformats.org/drawingml/2006/main">
            <a:off x="4095750" y="3838575"/>
            <a:ext cx="709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Đặt vé, thanh toán, hủy, giữ ghế và quản trị</a:t>
            </a:r>
          </a:p>
        </p:txBody>
      </p:sp>
      <p:sp>
        <p:nvSpPr>
          <p:cNvPr id="11" name="">
            <a:extLst xmlns:a="http://schemas.openxmlformats.org/drawingml/2006/main">
              <a:ext uri="{FF2B5EF4-FFF2-40B4-BE49-F238E27FC236}">
                <a16:creationId xmlns:a16="http://schemas.microsoft.com/office/drawing/2014/main" id="{3EC6F578-0685-4A05-AD0A-92E649AE11F7}"/>
              </a:ext>
            </a:extLst>
          </p:cNvPr>
          <p:cNvSpPr>
            <a:spLocks xmlns:a="http://schemas.openxmlformats.org/drawingml/2006/main" noGrp="1"/>
          </p:cNvSpPr>
          <p:nvPr/>
        </p:nvSpPr>
        <p:spPr>
          <a:xfrm xmlns:a="http://schemas.openxmlformats.org/drawingml/2006/main">
            <a:off x="762000" y="4552950"/>
            <a:ext cx="10572750" cy="0"/>
          </a:xfrm>
          <a:prstGeom xmlns:a="http://schemas.openxmlformats.org/drawingml/2006/main" prst="line">
            <a:avLst/>
          </a:prstGeom>
          <a:ln xmlns:a="http://schemas.openxmlformats.org/drawingml/2006/main" w="14288">
            <a:solidFill>
              <a:srgbClr val="C9DCD3"/>
            </a:solidFill>
          </a:ln>
        </p:spPr>
      </p:sp>
      <p:sp>
        <p:nvSpPr>
          <p:cNvPr id="12" name="">
            <a:extLst xmlns:a="http://schemas.openxmlformats.org/drawingml/2006/main">
              <a:ext uri="{FF2B5EF4-FFF2-40B4-BE49-F238E27FC236}">
                <a16:creationId xmlns:a16="http://schemas.microsoft.com/office/drawing/2014/main" id="{50033E34-B44D-45E7-98C5-63069CE57DA5}"/>
              </a:ext>
            </a:extLst>
          </p:cNvPr>
          <p:cNvSpPr>
            <a:spLocks xmlns:a="http://schemas.openxmlformats.org/drawingml/2006/main" noGrp="1"/>
          </p:cNvSpPr>
          <p:nvPr/>
        </p:nvSpPr>
        <p:spPr>
          <a:xfrm xmlns:a="http://schemas.openxmlformats.org/drawingml/2006/main">
            <a:off x="762000" y="4810125"/>
            <a:ext cx="300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B7163"/>
                </a:solidFill>
                <a:latin typeface="Arial"/>
                <a:ea typeface="Arial"/>
                <a:cs typeface="Arial"/>
              </a:defRPr>
            </a:defPPr>
          </a:lstStyle>
          <a:p xmlns:a="http://schemas.openxmlformats.org/drawingml/2006/main">
            <a:pPr>
              <a:defRPr sz="2250" b="1">
                <a:solidFill>
                  <a:srgbClr val="0B7163"/>
                </a:solidFill>
                <a:latin typeface="Arial"/>
                <a:ea typeface="Arial"/>
                <a:cs typeface="Arial"/>
              </a:defRPr>
            </a:pPr>
            <a:r>
              <a:rPr sz="2250" b="1">
                <a:solidFill>
                  <a:srgbClr val="0B7163"/>
                </a:solidFill>
                <a:latin typeface="Arial"/>
                <a:ea typeface="Arial"/>
                <a:cs typeface="Arial"/>
              </a:rPr>
              <a:t>4 views / 2 UDF</a:t>
            </a:r>
          </a:p>
        </p:txBody>
      </p:sp>
      <p:sp>
        <p:nvSpPr>
          <p:cNvPr id="13" name="">
            <a:extLst xmlns:a="http://schemas.openxmlformats.org/drawingml/2006/main">
              <a:ext uri="{FF2B5EF4-FFF2-40B4-BE49-F238E27FC236}">
                <a16:creationId xmlns:a16="http://schemas.microsoft.com/office/drawing/2014/main" id="{F24A375C-2E84-4DB7-B4FA-052A218CC867}"/>
              </a:ext>
            </a:extLst>
          </p:cNvPr>
          <p:cNvSpPr>
            <a:spLocks xmlns:a="http://schemas.openxmlformats.org/drawingml/2006/main" noGrp="1"/>
          </p:cNvSpPr>
          <p:nvPr/>
        </p:nvSpPr>
        <p:spPr>
          <a:xfrm xmlns:a="http://schemas.openxmlformats.org/drawingml/2006/main">
            <a:off x="4095750" y="4876800"/>
            <a:ext cx="709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Tìm kiếm, dashboard, giá vé và tỷ lệ ghế</a:t>
            </a:r>
          </a:p>
        </p:txBody>
      </p:sp>
      <p:sp>
        <p:nvSpPr>
          <p:cNvPr id="14" name="">
            <a:extLst xmlns:a="http://schemas.openxmlformats.org/drawingml/2006/main">
              <a:ext uri="{FF2B5EF4-FFF2-40B4-BE49-F238E27FC236}">
                <a16:creationId xmlns:a16="http://schemas.microsoft.com/office/drawing/2014/main" id="{178917AA-AD75-4C5E-B53A-433506A84192}"/>
              </a:ext>
            </a:extLst>
          </p:cNvPr>
          <p:cNvSpPr>
            <a:spLocks xmlns:a="http://schemas.openxmlformats.org/drawingml/2006/main" noGrp="1"/>
          </p:cNvSpPr>
          <p:nvPr/>
        </p:nvSpPr>
        <p:spPr>
          <a:xfrm xmlns:a="http://schemas.openxmlformats.org/drawingml/2006/main">
            <a:off x="762000" y="5591175"/>
            <a:ext cx="10572750" cy="0"/>
          </a:xfrm>
          <a:prstGeom xmlns:a="http://schemas.openxmlformats.org/drawingml/2006/main" prst="line">
            <a:avLst/>
          </a:prstGeom>
          <a:ln xmlns:a="http://schemas.openxmlformats.org/drawingml/2006/main" w="14288">
            <a:solidFill>
              <a:srgbClr val="C9DCD3"/>
            </a:solidFill>
          </a:ln>
        </p:spPr>
      </p:sp>
    </p:spTree>
    <p:extLst>
      <p:ext uri="{BB962C8B-B14F-4D97-AF65-F5344CB8AC3E}">
        <p14:creationId xmlns:p14="http://schemas.microsoft.com/office/powerpoint/2010/main" val="1451397411"/>
      </p:ext>
    </p:extLst>
  </p:cSld>
</p:sld>
</file>

<file path=ppt/slides/slide3.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DBCE4F4B-ED46-4659-9B6C-EFCA68F66F6A}"/>
              </a:ext>
            </a:extLst>
          </p:cNvPr>
          <p:cNvCxnSpPr>
            <a:stCxn xmlns:a="http://schemas.openxmlformats.org/drawingml/2006/main" id="9" idx="3"/>
            <a:endCxn xmlns:a="http://schemas.openxmlformats.org/drawingml/2006/main" id="12" idx="1"/>
          </p:cNvCxnSpPr>
          <p:nvPr/>
        </p:nvCxnSpPr>
        <p:spPr>
          <a:xfrm xmlns:a="http://schemas.openxmlformats.org/drawingml/2006/main">
            <a:off x="8667750" y="3209925"/>
            <a:ext cx="523875" cy="0"/>
          </a:xfrm>
          <a:prstGeom xmlns:a="http://schemas.openxmlformats.org/drawingml/2006/main" prst="straightConnector1">
            <a:avLst/>
          </a:prstGeom>
          <a:ln xmlns:a="http://schemas.openxmlformats.org/drawingml/2006/main" w="19050">
            <a:solidFill>
              <a:srgbClr val="0B7163"/>
            </a:solidFill>
            <a:tailEnd type="triangle" w="sm" len="sm"/>
          </a:ln>
        </p:spPr>
      </p:cxnSp>
      <p:cxnSp>
        <p:nvCxnSpPr>
          <p:cNvPr id="16" name="">
            <a:extLst xmlns:a="http://schemas.openxmlformats.org/drawingml/2006/main">
              <a:ext uri="{FF2B5EF4-FFF2-40B4-BE49-F238E27FC236}">
                <a16:creationId xmlns:a16="http://schemas.microsoft.com/office/drawing/2014/main" id="{8E5CC80E-5D5A-4D8A-8935-CAAB2E982E83}"/>
              </a:ext>
            </a:extLst>
          </p:cNvPr>
          <p:cNvCxnSpPr>
            <a:stCxn xmlns:a="http://schemas.openxmlformats.org/drawingml/2006/main" id="6" idx="3"/>
            <a:endCxn xmlns:a="http://schemas.openxmlformats.org/drawingml/2006/main" id="9" idx="1"/>
          </p:cNvCxnSpPr>
          <p:nvPr/>
        </p:nvCxnSpPr>
        <p:spPr>
          <a:xfrm xmlns:a="http://schemas.openxmlformats.org/drawingml/2006/main">
            <a:off x="5810250" y="3209925"/>
            <a:ext cx="523875" cy="0"/>
          </a:xfrm>
          <a:prstGeom xmlns:a="http://schemas.openxmlformats.org/drawingml/2006/main" prst="straightConnector1">
            <a:avLst/>
          </a:prstGeom>
          <a:ln xmlns:a="http://schemas.openxmlformats.org/drawingml/2006/main" w="19050">
            <a:solidFill>
              <a:srgbClr val="0B7163"/>
            </a:solidFill>
            <a:tailEnd type="triangle" w="sm" len="sm"/>
          </a:ln>
        </p:spPr>
      </p:cxnSp>
      <p:cxnSp>
        <p:nvCxnSpPr>
          <p:cNvPr id="15" name="">
            <a:extLst xmlns:a="http://schemas.openxmlformats.org/drawingml/2006/main">
              <a:ext uri="{FF2B5EF4-FFF2-40B4-BE49-F238E27FC236}">
                <a16:creationId xmlns:a16="http://schemas.microsoft.com/office/drawing/2014/main" id="{89E48080-6560-4EFF-8528-A54BC51AED87}"/>
              </a:ext>
            </a:extLst>
          </p:cNvPr>
          <p:cNvCxnSpPr>
            <a:stCxn xmlns:a="http://schemas.openxmlformats.org/drawingml/2006/main" id="3" idx="3"/>
            <a:endCxn xmlns:a="http://schemas.openxmlformats.org/drawingml/2006/main" id="6" idx="1"/>
          </p:cNvCxnSpPr>
          <p:nvPr/>
        </p:nvCxnSpPr>
        <p:spPr>
          <a:xfrm xmlns:a="http://schemas.openxmlformats.org/drawingml/2006/main">
            <a:off x="2952750" y="3209925"/>
            <a:ext cx="523875" cy="0"/>
          </a:xfrm>
          <a:prstGeom xmlns:a="http://schemas.openxmlformats.org/drawingml/2006/main" prst="straightConnector1">
            <a:avLst/>
          </a:prstGeom>
          <a:ln xmlns:a="http://schemas.openxmlformats.org/drawingml/2006/main" w="19050">
            <a:solidFill>
              <a:srgbClr val="0B7163"/>
            </a:solidFill>
            <a:tailEnd type="triangle" w="sm" len="sm"/>
          </a:ln>
        </p:spPr>
      </p:cxnSp>
      <p:sp>
        <p:nvSpPr>
          <p:cNvPr id="19" name="">
            <a:extLst xmlns:a="http://schemas.openxmlformats.org/drawingml/2006/main">
              <a:ext uri="{FF2B5EF4-FFF2-40B4-BE49-F238E27FC236}">
                <a16:creationId xmlns:a16="http://schemas.microsoft.com/office/drawing/2014/main" id="{EE4F1E05-39C7-48AF-938B-3773E3683AF3}"/>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Kiến trúc ứng dụng</a:t>
            </a:r>
          </a:p>
        </p:txBody>
      </p:sp>
      <p:sp>
        <p:nvSpPr>
          <p:cNvPr id="2" name="">
            <a:extLst xmlns:a="http://schemas.openxmlformats.org/drawingml/2006/main">
              <a:ext uri="{FF2B5EF4-FFF2-40B4-BE49-F238E27FC236}">
                <a16:creationId xmlns:a16="http://schemas.microsoft.com/office/drawing/2014/main" id="{06755459-483D-463D-BBB2-D2238F8B00AA}"/>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0F13410-D33E-40E6-B01F-A019F67B54DB}"/>
              </a:ext>
            </a:extLst>
          </p:cNvPr>
          <p:cNvSpPr>
            <a:spLocks xmlns:a="http://schemas.openxmlformats.org/drawingml/2006/main" noGrp="1"/>
          </p:cNvSpPr>
          <p:nvPr/>
        </p:nvSpPr>
        <p:spPr>
          <a:xfrm xmlns:a="http://schemas.openxmlformats.org/drawingml/2006/main">
            <a:off x="619125" y="2400300"/>
            <a:ext cx="2333625"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4" name="">
            <a:extLst xmlns:a="http://schemas.openxmlformats.org/drawingml/2006/main">
              <a:ext uri="{FF2B5EF4-FFF2-40B4-BE49-F238E27FC236}">
                <a16:creationId xmlns:a16="http://schemas.microsoft.com/office/drawing/2014/main" id="{D8A09E6A-91BE-40F1-8B6D-DCF022F1F20A}"/>
              </a:ext>
            </a:extLst>
          </p:cNvPr>
          <p:cNvSpPr>
            <a:spLocks xmlns:a="http://schemas.openxmlformats.org/drawingml/2006/main" noGrp="1"/>
          </p:cNvSpPr>
          <p:nvPr/>
        </p:nvSpPr>
        <p:spPr>
          <a:xfrm xmlns:a="http://schemas.openxmlformats.org/drawingml/2006/main">
            <a:off x="790575" y="2552700"/>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Trình duyệt</a:t>
            </a:r>
          </a:p>
        </p:txBody>
      </p:sp>
      <p:sp>
        <p:nvSpPr>
          <p:cNvPr id="5" name="">
            <a:extLst xmlns:a="http://schemas.openxmlformats.org/drawingml/2006/main">
              <a:ext uri="{FF2B5EF4-FFF2-40B4-BE49-F238E27FC236}">
                <a16:creationId xmlns:a16="http://schemas.microsoft.com/office/drawing/2014/main" id="{4FB1F478-1C2B-4F08-9B80-365A0B817B03}"/>
              </a:ext>
            </a:extLst>
          </p:cNvPr>
          <p:cNvSpPr>
            <a:spLocks xmlns:a="http://schemas.openxmlformats.org/drawingml/2006/main" noGrp="1"/>
          </p:cNvSpPr>
          <p:nvPr/>
        </p:nvSpPr>
        <p:spPr>
          <a:xfrm xmlns:a="http://schemas.openxmlformats.org/drawingml/2006/main">
            <a:off x="790575" y="2952750"/>
            <a:ext cx="19907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HTML / CSS</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JavaScript</a:t>
            </a:r>
          </a:p>
        </p:txBody>
      </p:sp>
      <p:sp>
        <p:nvSpPr>
          <p:cNvPr id="6" name="">
            <a:extLst xmlns:a="http://schemas.openxmlformats.org/drawingml/2006/main">
              <a:ext uri="{FF2B5EF4-FFF2-40B4-BE49-F238E27FC236}">
                <a16:creationId xmlns:a16="http://schemas.microsoft.com/office/drawing/2014/main" id="{BFA30D17-683C-49CE-BF35-F024233E5464}"/>
              </a:ext>
            </a:extLst>
          </p:cNvPr>
          <p:cNvSpPr>
            <a:spLocks xmlns:a="http://schemas.openxmlformats.org/drawingml/2006/main" noGrp="1"/>
          </p:cNvSpPr>
          <p:nvPr/>
        </p:nvSpPr>
        <p:spPr>
          <a:xfrm xmlns:a="http://schemas.openxmlformats.org/drawingml/2006/main">
            <a:off x="3476625" y="2400300"/>
            <a:ext cx="2333625"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7" name="">
            <a:extLst xmlns:a="http://schemas.openxmlformats.org/drawingml/2006/main">
              <a:ext uri="{FF2B5EF4-FFF2-40B4-BE49-F238E27FC236}">
                <a16:creationId xmlns:a16="http://schemas.microsoft.com/office/drawing/2014/main" id="{B8F0E529-5B06-4F10-BD09-C604C0EAF183}"/>
              </a:ext>
            </a:extLst>
          </p:cNvPr>
          <p:cNvSpPr>
            <a:spLocks xmlns:a="http://schemas.openxmlformats.org/drawingml/2006/main" noGrp="1"/>
          </p:cNvSpPr>
          <p:nvPr/>
        </p:nvSpPr>
        <p:spPr>
          <a:xfrm xmlns:a="http://schemas.openxmlformats.org/drawingml/2006/main">
            <a:off x="3648075" y="2552700"/>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Flask API</a:t>
            </a:r>
          </a:p>
        </p:txBody>
      </p:sp>
      <p:sp>
        <p:nvSpPr>
          <p:cNvPr id="8" name="">
            <a:extLst xmlns:a="http://schemas.openxmlformats.org/drawingml/2006/main">
              <a:ext uri="{FF2B5EF4-FFF2-40B4-BE49-F238E27FC236}">
                <a16:creationId xmlns:a16="http://schemas.microsoft.com/office/drawing/2014/main" id="{83A7C8A5-E0C6-48D5-B9B8-DF292B367BE4}"/>
              </a:ext>
            </a:extLst>
          </p:cNvPr>
          <p:cNvSpPr>
            <a:spLocks xmlns:a="http://schemas.openxmlformats.org/drawingml/2006/main" noGrp="1"/>
          </p:cNvSpPr>
          <p:nvPr/>
        </p:nvSpPr>
        <p:spPr>
          <a:xfrm xmlns:a="http://schemas.openxmlformats.org/drawingml/2006/main">
            <a:off x="3648075" y="2952750"/>
            <a:ext cx="19907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CSRF, phân quyền</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Validation</a:t>
            </a:r>
          </a:p>
        </p:txBody>
      </p:sp>
      <p:sp>
        <p:nvSpPr>
          <p:cNvPr id="9" name="">
            <a:extLst xmlns:a="http://schemas.openxmlformats.org/drawingml/2006/main">
              <a:ext uri="{FF2B5EF4-FFF2-40B4-BE49-F238E27FC236}">
                <a16:creationId xmlns:a16="http://schemas.microsoft.com/office/drawing/2014/main" id="{A667B4AF-81E1-4920-872E-B3CB3B6807D5}"/>
              </a:ext>
            </a:extLst>
          </p:cNvPr>
          <p:cNvSpPr>
            <a:spLocks xmlns:a="http://schemas.openxmlformats.org/drawingml/2006/main" noGrp="1"/>
          </p:cNvSpPr>
          <p:nvPr/>
        </p:nvSpPr>
        <p:spPr>
          <a:xfrm xmlns:a="http://schemas.openxmlformats.org/drawingml/2006/main">
            <a:off x="6334125" y="2400300"/>
            <a:ext cx="2333625"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10" name="">
            <a:extLst xmlns:a="http://schemas.openxmlformats.org/drawingml/2006/main">
              <a:ext uri="{FF2B5EF4-FFF2-40B4-BE49-F238E27FC236}">
                <a16:creationId xmlns:a16="http://schemas.microsoft.com/office/drawing/2014/main" id="{A75DD083-27FB-4565-A843-21EA1471BC74}"/>
              </a:ext>
            </a:extLst>
          </p:cNvPr>
          <p:cNvSpPr>
            <a:spLocks xmlns:a="http://schemas.openxmlformats.org/drawingml/2006/main" noGrp="1"/>
          </p:cNvSpPr>
          <p:nvPr/>
        </p:nvSpPr>
        <p:spPr>
          <a:xfrm xmlns:a="http://schemas.openxmlformats.org/drawingml/2006/main">
            <a:off x="6505575" y="2552700"/>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pyodbc</a:t>
            </a:r>
          </a:p>
        </p:txBody>
      </p:sp>
      <p:sp>
        <p:nvSpPr>
          <p:cNvPr id="11" name="">
            <a:extLst xmlns:a="http://schemas.openxmlformats.org/drawingml/2006/main">
              <a:ext uri="{FF2B5EF4-FFF2-40B4-BE49-F238E27FC236}">
                <a16:creationId xmlns:a16="http://schemas.microsoft.com/office/drawing/2014/main" id="{C3EFA2C2-AAC6-4743-913D-657715E161DD}"/>
              </a:ext>
            </a:extLst>
          </p:cNvPr>
          <p:cNvSpPr>
            <a:spLocks xmlns:a="http://schemas.openxmlformats.org/drawingml/2006/main" noGrp="1"/>
          </p:cNvSpPr>
          <p:nvPr/>
        </p:nvSpPr>
        <p:spPr>
          <a:xfrm xmlns:a="http://schemas.openxmlformats.org/drawingml/2006/main">
            <a:off x="6505575" y="2952750"/>
            <a:ext cx="19907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Truy vấn T-SQL</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Có tham số</a:t>
            </a:r>
          </a:p>
        </p:txBody>
      </p:sp>
      <p:sp>
        <p:nvSpPr>
          <p:cNvPr id="12" name="">
            <a:extLst xmlns:a="http://schemas.openxmlformats.org/drawingml/2006/main">
              <a:ext uri="{FF2B5EF4-FFF2-40B4-BE49-F238E27FC236}">
                <a16:creationId xmlns:a16="http://schemas.microsoft.com/office/drawing/2014/main" id="{CBC3CF61-8267-4F8E-BC10-D6302D466169}"/>
              </a:ext>
            </a:extLst>
          </p:cNvPr>
          <p:cNvSpPr>
            <a:spLocks xmlns:a="http://schemas.openxmlformats.org/drawingml/2006/main" noGrp="1"/>
          </p:cNvSpPr>
          <p:nvPr/>
        </p:nvSpPr>
        <p:spPr>
          <a:xfrm xmlns:a="http://schemas.openxmlformats.org/drawingml/2006/main">
            <a:off x="9191625" y="2400300"/>
            <a:ext cx="2333625"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13" name="">
            <a:extLst xmlns:a="http://schemas.openxmlformats.org/drawingml/2006/main">
              <a:ext uri="{FF2B5EF4-FFF2-40B4-BE49-F238E27FC236}">
                <a16:creationId xmlns:a16="http://schemas.microsoft.com/office/drawing/2014/main" id="{F9728C10-1269-405D-8EB9-9464A7FD1A7E}"/>
              </a:ext>
            </a:extLst>
          </p:cNvPr>
          <p:cNvSpPr>
            <a:spLocks xmlns:a="http://schemas.openxmlformats.org/drawingml/2006/main" noGrp="1"/>
          </p:cNvSpPr>
          <p:nvPr/>
        </p:nvSpPr>
        <p:spPr>
          <a:xfrm xmlns:a="http://schemas.openxmlformats.org/drawingml/2006/main">
            <a:off x="9363075" y="2552700"/>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SQL Server</a:t>
            </a:r>
          </a:p>
        </p:txBody>
      </p:sp>
      <p:sp>
        <p:nvSpPr>
          <p:cNvPr id="14" name="">
            <a:extLst xmlns:a="http://schemas.openxmlformats.org/drawingml/2006/main">
              <a:ext uri="{FF2B5EF4-FFF2-40B4-BE49-F238E27FC236}">
                <a16:creationId xmlns:a16="http://schemas.microsoft.com/office/drawing/2014/main" id="{262549B2-F9A6-49E5-A8C2-BCACA35F3E0F}"/>
              </a:ext>
            </a:extLst>
          </p:cNvPr>
          <p:cNvSpPr>
            <a:spLocks xmlns:a="http://schemas.openxmlformats.org/drawingml/2006/main" noGrp="1"/>
          </p:cNvSpPr>
          <p:nvPr/>
        </p:nvSpPr>
        <p:spPr>
          <a:xfrm xmlns:a="http://schemas.openxmlformats.org/drawingml/2006/main">
            <a:off x="9363075" y="2952750"/>
            <a:ext cx="19907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SP / View / UDF</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Transaction</a:t>
            </a:r>
          </a:p>
        </p:txBody>
      </p:sp>
      <p:sp>
        <p:nvSpPr>
          <p:cNvPr id="18" name="">
            <a:extLst xmlns:a="http://schemas.openxmlformats.org/drawingml/2006/main">
              <a:ext uri="{FF2B5EF4-FFF2-40B4-BE49-F238E27FC236}">
                <a16:creationId xmlns:a16="http://schemas.microsoft.com/office/drawing/2014/main" id="{5F69A702-B649-4610-AB0D-711346E818A1}"/>
              </a:ext>
            </a:extLst>
          </p:cNvPr>
          <p:cNvSpPr>
            <a:spLocks xmlns:a="http://schemas.openxmlformats.org/drawingml/2006/main" noGrp="1"/>
          </p:cNvSpPr>
          <p:nvPr/>
        </p:nvSpPr>
        <p:spPr>
          <a:xfrm xmlns:a="http://schemas.openxmlformats.org/drawingml/2006/main">
            <a:off x="762000" y="50101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B7163"/>
                </a:solidFill>
                <a:latin typeface="Arial"/>
                <a:ea typeface="Arial"/>
                <a:cs typeface="Arial"/>
              </a:defRPr>
            </a:defPPr>
          </a:lstStyle>
          <a:p xmlns:a="http://schemas.openxmlformats.org/drawingml/2006/main">
            <a:pPr>
              <a:defRPr sz="2400" b="1">
                <a:solidFill>
                  <a:srgbClr val="0B7163"/>
                </a:solidFill>
                <a:latin typeface="Arial"/>
                <a:ea typeface="Arial"/>
                <a:cs typeface="Arial"/>
              </a:defRPr>
            </a:pPr>
            <a:r>
              <a:rPr sz="2400" b="1">
                <a:solidFill>
                  <a:srgbClr val="0B7163"/>
                </a:solidFill>
                <a:latin typeface="Arial"/>
                <a:ea typeface="Arial"/>
                <a:cs typeface="Arial"/>
              </a:rPr>
              <a:t>Một nguồn dữ liệu nghiệp vụ: Microsoft SQL Server</a:t>
            </a:r>
          </a:p>
        </p:txBody>
      </p:sp>
    </p:spTree>
    <p:extLst>
      <p:ext uri="{BB962C8B-B14F-4D97-AF65-F5344CB8AC3E}">
        <p14:creationId xmlns:p14="http://schemas.microsoft.com/office/powerpoint/2010/main" val="1255247339"/>
      </p:ext>
    </p:extLst>
  </p:cSld>
</p:sld>
</file>

<file path=ppt/slides/slide4.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C57B4461-F522-4342-8AFF-BB3B7FD76FB1}"/>
              </a:ext>
            </a:extLst>
          </p:cNvPr>
          <p:cNvCxnSpPr>
            <a:stCxn xmlns:a="http://schemas.openxmlformats.org/drawingml/2006/main" id="6" idx="2"/>
            <a:endCxn xmlns:a="http://schemas.openxmlformats.org/drawingml/2006/main" id="24" idx="0"/>
          </p:cNvCxnSpPr>
          <p:nvPr/>
        </p:nvCxnSpPr>
        <p:spPr>
          <a:xfrm xmlns:a="http://schemas.openxmlformats.org/drawingml/2006/main">
            <a:off x="4643438" y="2952750"/>
            <a:ext cx="5715000" cy="1171575"/>
          </a:xfrm>
          <a:prstGeom xmlns:a="http://schemas.openxmlformats.org/drawingml/2006/main" prst="bentConnector4">
            <a:avLst>
              <a:gd name="adj1" fmla="val 0"/>
              <a:gd name="adj2" fmla="val 50000"/>
            </a:avLst>
          </a:prstGeom>
          <a:ln xmlns:a="http://schemas.openxmlformats.org/drawingml/2006/main" w="19050">
            <a:solidFill>
              <a:srgbClr val="0B7163"/>
            </a:solidFill>
            <a:tailEnd type="triangle" w="sm" len="sm"/>
          </a:ln>
        </p:spPr>
      </p:cxnSp>
      <p:cxnSp>
        <p:nvCxnSpPr>
          <p:cNvPr id="33" name="">
            <a:extLst xmlns:a="http://schemas.openxmlformats.org/drawingml/2006/main">
              <a:ext uri="{FF2B5EF4-FFF2-40B4-BE49-F238E27FC236}">
                <a16:creationId xmlns:a16="http://schemas.microsoft.com/office/drawing/2014/main" id="{C49C475D-A598-4D28-B39E-062C3164B28A}"/>
              </a:ext>
            </a:extLst>
          </p:cNvPr>
          <p:cNvCxnSpPr>
            <a:stCxn xmlns:a="http://schemas.openxmlformats.org/drawingml/2006/main" id="15" idx="0"/>
            <a:endCxn xmlns:a="http://schemas.openxmlformats.org/drawingml/2006/main" id="6" idx="2"/>
          </p:cNvCxnSpPr>
          <p:nvPr/>
        </p:nvCxnSpPr>
        <p:spPr>
          <a:xfrm xmlns:a="http://schemas.openxmlformats.org/drawingml/2006/main" flipV="1">
            <a:off x="1785938" y="2952750"/>
            <a:ext cx="2857500" cy="1171575"/>
          </a:xfrm>
          <a:prstGeom xmlns:a="http://schemas.openxmlformats.org/drawingml/2006/main" prst="bentConnector4">
            <a:avLst>
              <a:gd name="adj1" fmla="val 0"/>
              <a:gd name="adj2" fmla="val 50000"/>
            </a:avLst>
          </a:prstGeom>
          <a:ln xmlns:a="http://schemas.openxmlformats.org/drawingml/2006/main" w="19050">
            <a:solidFill>
              <a:srgbClr val="0B7163"/>
            </a:solidFill>
            <a:tailEnd type="triangle" w="sm" len="sm"/>
          </a:ln>
        </p:spPr>
      </p:cxnSp>
      <p:cxnSp>
        <p:nvCxnSpPr>
          <p:cNvPr id="32" name="">
            <a:extLst xmlns:a="http://schemas.openxmlformats.org/drawingml/2006/main">
              <a:ext uri="{FF2B5EF4-FFF2-40B4-BE49-F238E27FC236}">
                <a16:creationId xmlns:a16="http://schemas.microsoft.com/office/drawing/2014/main" id="{2BD30588-A12C-4B37-AF08-09BB9C4E4B72}"/>
              </a:ext>
            </a:extLst>
          </p:cNvPr>
          <p:cNvCxnSpPr>
            <a:stCxn xmlns:a="http://schemas.openxmlformats.org/drawingml/2006/main" id="9" idx="2"/>
            <a:endCxn xmlns:a="http://schemas.openxmlformats.org/drawingml/2006/main" id="21" idx="0"/>
          </p:cNvCxnSpPr>
          <p:nvPr/>
        </p:nvCxnSpPr>
        <p:spPr>
          <a:xfrm xmlns:a="http://schemas.openxmlformats.org/drawingml/2006/main">
            <a:off x="7500938" y="3143250"/>
            <a:ext cx="0" cy="981075"/>
          </a:xfrm>
          <a:prstGeom xmlns:a="http://schemas.openxmlformats.org/drawingml/2006/main" prst="straightConnector1">
            <a:avLst/>
          </a:prstGeom>
          <a:ln xmlns:a="http://schemas.openxmlformats.org/drawingml/2006/main" w="19050">
            <a:solidFill>
              <a:srgbClr val="0B7163"/>
            </a:solidFill>
            <a:tailEnd type="triangle" w="sm" len="sm"/>
          </a:ln>
        </p:spPr>
      </p:cxnSp>
      <p:cxnSp>
        <p:nvCxnSpPr>
          <p:cNvPr id="31" name="">
            <a:extLst xmlns:a="http://schemas.openxmlformats.org/drawingml/2006/main">
              <a:ext uri="{FF2B5EF4-FFF2-40B4-BE49-F238E27FC236}">
                <a16:creationId xmlns:a16="http://schemas.microsoft.com/office/drawing/2014/main" id="{2D8AC38E-90F3-41FD-B55B-1383D0075EA4}"/>
              </a:ext>
            </a:extLst>
          </p:cNvPr>
          <p:cNvCxnSpPr>
            <a:stCxn xmlns:a="http://schemas.openxmlformats.org/drawingml/2006/main" id="18" idx="3"/>
            <a:endCxn xmlns:a="http://schemas.openxmlformats.org/drawingml/2006/main" id="21" idx="1"/>
          </p:cNvCxnSpPr>
          <p:nvPr/>
        </p:nvCxnSpPr>
        <p:spPr>
          <a:xfrm xmlns:a="http://schemas.openxmlformats.org/drawingml/2006/main">
            <a:off x="5810250" y="4743450"/>
            <a:ext cx="523875" cy="95250"/>
          </a:xfrm>
          <a:prstGeom xmlns:a="http://schemas.openxmlformats.org/drawingml/2006/main" prst="bentConnector3">
            <a:avLst>
              <a:gd name="adj1" fmla="val 50000"/>
            </a:avLst>
          </a:prstGeom>
          <a:ln xmlns:a="http://schemas.openxmlformats.org/drawingml/2006/main" w="19050">
            <a:solidFill>
              <a:srgbClr val="0B7163"/>
            </a:solidFill>
            <a:tailEnd type="triangle" w="sm" len="sm"/>
          </a:ln>
        </p:spPr>
      </p:cxnSp>
      <p:cxnSp>
        <p:nvCxnSpPr>
          <p:cNvPr id="30" name="">
            <a:extLst xmlns:a="http://schemas.openxmlformats.org/drawingml/2006/main">
              <a:ext uri="{FF2B5EF4-FFF2-40B4-BE49-F238E27FC236}">
                <a16:creationId xmlns:a16="http://schemas.microsoft.com/office/drawing/2014/main" id="{076A0202-0251-4313-B5E9-5845DCFE7AEE}"/>
              </a:ext>
            </a:extLst>
          </p:cNvPr>
          <p:cNvCxnSpPr>
            <a:stCxn xmlns:a="http://schemas.openxmlformats.org/drawingml/2006/main" id="15" idx="3"/>
            <a:endCxn xmlns:a="http://schemas.openxmlformats.org/drawingml/2006/main" id="18" idx="1"/>
          </p:cNvCxnSpPr>
          <p:nvPr/>
        </p:nvCxnSpPr>
        <p:spPr>
          <a:xfrm xmlns:a="http://schemas.openxmlformats.org/drawingml/2006/main">
            <a:off x="2952750" y="4648200"/>
            <a:ext cx="523875" cy="95250"/>
          </a:xfrm>
          <a:prstGeom xmlns:a="http://schemas.openxmlformats.org/drawingml/2006/main" prst="bentConnector3">
            <a:avLst>
              <a:gd name="adj1" fmla="val 50000"/>
            </a:avLst>
          </a:prstGeom>
          <a:ln xmlns:a="http://schemas.openxmlformats.org/drawingml/2006/main" w="19050">
            <a:solidFill>
              <a:srgbClr val="0B7163"/>
            </a:solidFill>
            <a:tailEnd type="triangle" w="sm" len="sm"/>
          </a:ln>
        </p:spPr>
      </p:cxnSp>
      <p:cxnSp>
        <p:nvCxnSpPr>
          <p:cNvPr id="29" name="">
            <a:extLst xmlns:a="http://schemas.openxmlformats.org/drawingml/2006/main">
              <a:ext uri="{FF2B5EF4-FFF2-40B4-BE49-F238E27FC236}">
                <a16:creationId xmlns:a16="http://schemas.microsoft.com/office/drawing/2014/main" id="{FE641D42-30BE-48E0-99CE-891D006BAC44}"/>
              </a:ext>
            </a:extLst>
          </p:cNvPr>
          <p:cNvCxnSpPr>
            <a:stCxn xmlns:a="http://schemas.openxmlformats.org/drawingml/2006/main" id="12" idx="1"/>
            <a:endCxn xmlns:a="http://schemas.openxmlformats.org/drawingml/2006/main" id="9" idx="3"/>
          </p:cNvCxnSpPr>
          <p:nvPr/>
        </p:nvCxnSpPr>
        <p:spPr>
          <a:xfrm xmlns:a="http://schemas.openxmlformats.org/drawingml/2006/main" flipH="1">
            <a:off x="8667750" y="2238375"/>
            <a:ext cx="523875" cy="190500"/>
          </a:xfrm>
          <a:prstGeom xmlns:a="http://schemas.openxmlformats.org/drawingml/2006/main" prst="bentConnector3">
            <a:avLst>
              <a:gd name="adj1" fmla="val 50000"/>
            </a:avLst>
          </a:prstGeom>
          <a:ln xmlns:a="http://schemas.openxmlformats.org/drawingml/2006/main" w="19050">
            <a:solidFill>
              <a:srgbClr val="0B7163"/>
            </a:solidFill>
            <a:tailEnd type="triangle" w="sm" len="sm"/>
          </a:ln>
        </p:spPr>
      </p:cxnSp>
      <p:cxnSp>
        <p:nvCxnSpPr>
          <p:cNvPr id="28" name="">
            <a:extLst xmlns:a="http://schemas.openxmlformats.org/drawingml/2006/main">
              <a:ext uri="{FF2B5EF4-FFF2-40B4-BE49-F238E27FC236}">
                <a16:creationId xmlns:a16="http://schemas.microsoft.com/office/drawing/2014/main" id="{B6A45F14-DBC1-4C29-86C6-EC9C04FD01BD}"/>
              </a:ext>
            </a:extLst>
          </p:cNvPr>
          <p:cNvCxnSpPr>
            <a:stCxn xmlns:a="http://schemas.openxmlformats.org/drawingml/2006/main" id="6" idx="3"/>
            <a:endCxn xmlns:a="http://schemas.openxmlformats.org/drawingml/2006/main" id="9" idx="1"/>
          </p:cNvCxnSpPr>
          <p:nvPr/>
        </p:nvCxnSpPr>
        <p:spPr>
          <a:xfrm xmlns:a="http://schemas.openxmlformats.org/drawingml/2006/main">
            <a:off x="5810250" y="2333625"/>
            <a:ext cx="523875" cy="95250"/>
          </a:xfrm>
          <a:prstGeom xmlns:a="http://schemas.openxmlformats.org/drawingml/2006/main" prst="bentConnector3">
            <a:avLst>
              <a:gd name="adj1" fmla="val 50000"/>
            </a:avLst>
          </a:prstGeom>
          <a:ln xmlns:a="http://schemas.openxmlformats.org/drawingml/2006/main" w="19050">
            <a:solidFill>
              <a:srgbClr val="0B7163"/>
            </a:solidFill>
            <a:tailEnd type="triangle" w="sm" len="sm"/>
          </a:ln>
        </p:spPr>
      </p:cxnSp>
      <p:cxnSp>
        <p:nvCxnSpPr>
          <p:cNvPr id="27" name="">
            <a:extLst xmlns:a="http://schemas.openxmlformats.org/drawingml/2006/main">
              <a:ext uri="{FF2B5EF4-FFF2-40B4-BE49-F238E27FC236}">
                <a16:creationId xmlns:a16="http://schemas.microsoft.com/office/drawing/2014/main" id="{6A8B2B5C-2B34-4DE4-8F78-EB502B65B7D9}"/>
              </a:ext>
            </a:extLst>
          </p:cNvPr>
          <p:cNvCxnSpPr>
            <a:stCxn xmlns:a="http://schemas.openxmlformats.org/drawingml/2006/main" id="3" idx="3"/>
            <a:endCxn xmlns:a="http://schemas.openxmlformats.org/drawingml/2006/main" id="6" idx="1"/>
          </p:cNvCxnSpPr>
          <p:nvPr/>
        </p:nvCxnSpPr>
        <p:spPr>
          <a:xfrm xmlns:a="http://schemas.openxmlformats.org/drawingml/2006/main">
            <a:off x="2952750" y="2238375"/>
            <a:ext cx="523875" cy="95250"/>
          </a:xfrm>
          <a:prstGeom xmlns:a="http://schemas.openxmlformats.org/drawingml/2006/main" prst="bentConnector3">
            <a:avLst>
              <a:gd name="adj1" fmla="val 50000"/>
            </a:avLst>
          </a:prstGeom>
          <a:ln xmlns:a="http://schemas.openxmlformats.org/drawingml/2006/main" w="19050">
            <a:solidFill>
              <a:srgbClr val="0B7163"/>
            </a:solidFill>
            <a:tailEnd type="triangle" w="sm" len="sm"/>
          </a:ln>
        </p:spPr>
      </p:cxnSp>
      <p:sp>
        <p:nvSpPr>
          <p:cNvPr id="35" name="">
            <a:extLst xmlns:a="http://schemas.openxmlformats.org/drawingml/2006/main">
              <a:ext uri="{FF2B5EF4-FFF2-40B4-BE49-F238E27FC236}">
                <a16:creationId xmlns:a16="http://schemas.microsoft.com/office/drawing/2014/main" id="{2840CDE2-0B3F-4FCB-8618-CA3552070D65}"/>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ERD của luồng đặt vé</a:t>
            </a:r>
          </a:p>
        </p:txBody>
      </p:sp>
      <p:sp>
        <p:nvSpPr>
          <p:cNvPr id="2" name="">
            <a:extLst xmlns:a="http://schemas.openxmlformats.org/drawingml/2006/main">
              <a:ext uri="{FF2B5EF4-FFF2-40B4-BE49-F238E27FC236}">
                <a16:creationId xmlns:a16="http://schemas.microsoft.com/office/drawing/2014/main" id="{4D403E61-2E1E-4C0A-886B-0A68169904E0}"/>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4C8899F-2B85-461D-A229-6896850F047C}"/>
              </a:ext>
            </a:extLst>
          </p:cNvPr>
          <p:cNvSpPr>
            <a:spLocks xmlns:a="http://schemas.openxmlformats.org/drawingml/2006/main" noGrp="1"/>
          </p:cNvSpPr>
          <p:nvPr/>
        </p:nvSpPr>
        <p:spPr>
          <a:xfrm xmlns:a="http://schemas.openxmlformats.org/drawingml/2006/main">
            <a:off x="619125" y="1714500"/>
            <a:ext cx="2333625" cy="10477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4" name="">
            <a:extLst xmlns:a="http://schemas.openxmlformats.org/drawingml/2006/main">
              <a:ext uri="{FF2B5EF4-FFF2-40B4-BE49-F238E27FC236}">
                <a16:creationId xmlns:a16="http://schemas.microsoft.com/office/drawing/2014/main" id="{61380535-1C48-4A3A-9FC3-7651860E40AD}"/>
              </a:ext>
            </a:extLst>
          </p:cNvPr>
          <p:cNvSpPr>
            <a:spLocks xmlns:a="http://schemas.openxmlformats.org/drawingml/2006/main" noGrp="1"/>
          </p:cNvSpPr>
          <p:nvPr/>
        </p:nvSpPr>
        <p:spPr>
          <a:xfrm xmlns:a="http://schemas.openxmlformats.org/drawingml/2006/main">
            <a:off x="790575" y="1866900"/>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Users</a:t>
            </a:r>
          </a:p>
        </p:txBody>
      </p:sp>
      <p:sp>
        <p:nvSpPr>
          <p:cNvPr id="5" name="">
            <a:extLst xmlns:a="http://schemas.openxmlformats.org/drawingml/2006/main">
              <a:ext uri="{FF2B5EF4-FFF2-40B4-BE49-F238E27FC236}">
                <a16:creationId xmlns:a16="http://schemas.microsoft.com/office/drawing/2014/main" id="{9068416D-B7A2-4F1E-8552-AA15F0C0AFAE}"/>
              </a:ext>
            </a:extLst>
          </p:cNvPr>
          <p:cNvSpPr>
            <a:spLocks xmlns:a="http://schemas.openxmlformats.org/drawingml/2006/main" noGrp="1"/>
          </p:cNvSpPr>
          <p:nvPr/>
        </p:nvSpPr>
        <p:spPr>
          <a:xfrm xmlns:a="http://schemas.openxmlformats.org/drawingml/2006/main">
            <a:off x="790575" y="2266950"/>
            <a:ext cx="1990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PK UserID</a:t>
            </a:r>
          </a:p>
        </p:txBody>
      </p:sp>
      <p:sp>
        <p:nvSpPr>
          <p:cNvPr id="6" name="">
            <a:extLst xmlns:a="http://schemas.openxmlformats.org/drawingml/2006/main">
              <a:ext uri="{FF2B5EF4-FFF2-40B4-BE49-F238E27FC236}">
                <a16:creationId xmlns:a16="http://schemas.microsoft.com/office/drawing/2014/main" id="{B493882B-98E4-40BA-9D8D-0F5E75C7F24F}"/>
              </a:ext>
            </a:extLst>
          </p:cNvPr>
          <p:cNvSpPr>
            <a:spLocks xmlns:a="http://schemas.openxmlformats.org/drawingml/2006/main" noGrp="1"/>
          </p:cNvSpPr>
          <p:nvPr/>
        </p:nvSpPr>
        <p:spPr>
          <a:xfrm xmlns:a="http://schemas.openxmlformats.org/drawingml/2006/main">
            <a:off x="3476625" y="1714500"/>
            <a:ext cx="2333625" cy="12382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7" name="">
            <a:extLst xmlns:a="http://schemas.openxmlformats.org/drawingml/2006/main">
              <a:ext uri="{FF2B5EF4-FFF2-40B4-BE49-F238E27FC236}">
                <a16:creationId xmlns:a16="http://schemas.microsoft.com/office/drawing/2014/main" id="{816EF7E2-A225-43A0-9C5A-0007D482D6E1}"/>
              </a:ext>
            </a:extLst>
          </p:cNvPr>
          <p:cNvSpPr>
            <a:spLocks xmlns:a="http://schemas.openxmlformats.org/drawingml/2006/main" noGrp="1"/>
          </p:cNvSpPr>
          <p:nvPr/>
        </p:nvSpPr>
        <p:spPr>
          <a:xfrm xmlns:a="http://schemas.openxmlformats.org/drawingml/2006/main">
            <a:off x="3648075" y="1866900"/>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Bookings</a:t>
            </a:r>
          </a:p>
        </p:txBody>
      </p:sp>
      <p:sp>
        <p:nvSpPr>
          <p:cNvPr id="8" name="">
            <a:extLst xmlns:a="http://schemas.openxmlformats.org/drawingml/2006/main">
              <a:ext uri="{FF2B5EF4-FFF2-40B4-BE49-F238E27FC236}">
                <a16:creationId xmlns:a16="http://schemas.microsoft.com/office/drawing/2014/main" id="{6EBF7946-7A15-4754-8B27-DA89DF5ABDE9}"/>
              </a:ext>
            </a:extLst>
          </p:cNvPr>
          <p:cNvSpPr>
            <a:spLocks xmlns:a="http://schemas.openxmlformats.org/drawingml/2006/main" noGrp="1"/>
          </p:cNvSpPr>
          <p:nvPr/>
        </p:nvSpPr>
        <p:spPr>
          <a:xfrm xmlns:a="http://schemas.openxmlformats.org/drawingml/2006/main">
            <a:off x="3648075" y="2266950"/>
            <a:ext cx="1990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PK BookingID</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FK UserID, FlightID</a:t>
            </a:r>
          </a:p>
        </p:txBody>
      </p:sp>
      <p:sp>
        <p:nvSpPr>
          <p:cNvPr id="9" name="">
            <a:extLst xmlns:a="http://schemas.openxmlformats.org/drawingml/2006/main">
              <a:ext uri="{FF2B5EF4-FFF2-40B4-BE49-F238E27FC236}">
                <a16:creationId xmlns:a16="http://schemas.microsoft.com/office/drawing/2014/main" id="{ED693A8C-A1E0-468C-B41E-2AEB305E9870}"/>
              </a:ext>
            </a:extLst>
          </p:cNvPr>
          <p:cNvSpPr>
            <a:spLocks xmlns:a="http://schemas.openxmlformats.org/drawingml/2006/main" noGrp="1"/>
          </p:cNvSpPr>
          <p:nvPr/>
        </p:nvSpPr>
        <p:spPr>
          <a:xfrm xmlns:a="http://schemas.openxmlformats.org/drawingml/2006/main">
            <a:off x="6334125" y="1714500"/>
            <a:ext cx="2333625" cy="14287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10" name="">
            <a:extLst xmlns:a="http://schemas.openxmlformats.org/drawingml/2006/main">
              <a:ext uri="{FF2B5EF4-FFF2-40B4-BE49-F238E27FC236}">
                <a16:creationId xmlns:a16="http://schemas.microsoft.com/office/drawing/2014/main" id="{744DAF5C-8E48-40A7-B768-100F8DC0CE30}"/>
              </a:ext>
            </a:extLst>
          </p:cNvPr>
          <p:cNvSpPr>
            <a:spLocks xmlns:a="http://schemas.openxmlformats.org/drawingml/2006/main" noGrp="1"/>
          </p:cNvSpPr>
          <p:nvPr/>
        </p:nvSpPr>
        <p:spPr>
          <a:xfrm xmlns:a="http://schemas.openxmlformats.org/drawingml/2006/main">
            <a:off x="6505575" y="1866900"/>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0B7163"/>
                </a:solidFill>
                <a:latin typeface="Arial"/>
                <a:ea typeface="Arial"/>
                <a:cs typeface="Arial"/>
              </a:defRPr>
            </a:defPPr>
          </a:lstStyle>
          <a:p xmlns:a="http://schemas.openxmlformats.org/drawingml/2006/main">
            <a:pPr>
              <a:defRPr sz="1500" b="1">
                <a:solidFill>
                  <a:srgbClr val="0B7163"/>
                </a:solidFill>
                <a:latin typeface="Arial"/>
                <a:ea typeface="Arial"/>
                <a:cs typeface="Arial"/>
              </a:defRPr>
            </a:pPr>
            <a:r>
              <a:rPr sz="1500" b="1">
                <a:solidFill>
                  <a:srgbClr val="0B7163"/>
                </a:solidFill>
                <a:latin typeface="Arial"/>
                <a:ea typeface="Arial"/>
                <a:cs typeface="Arial"/>
              </a:rPr>
              <a:t>BookingPassengers</a:t>
            </a:r>
          </a:p>
        </p:txBody>
      </p:sp>
      <p:sp>
        <p:nvSpPr>
          <p:cNvPr id="11" name="">
            <a:extLst xmlns:a="http://schemas.openxmlformats.org/drawingml/2006/main">
              <a:ext uri="{FF2B5EF4-FFF2-40B4-BE49-F238E27FC236}">
                <a16:creationId xmlns:a16="http://schemas.microsoft.com/office/drawing/2014/main" id="{29690B20-EBD8-4544-B81C-876F0103E2FB}"/>
              </a:ext>
            </a:extLst>
          </p:cNvPr>
          <p:cNvSpPr>
            <a:spLocks xmlns:a="http://schemas.openxmlformats.org/drawingml/2006/main" noGrp="1"/>
          </p:cNvSpPr>
          <p:nvPr/>
        </p:nvSpPr>
        <p:spPr>
          <a:xfrm xmlns:a="http://schemas.openxmlformats.org/drawingml/2006/main">
            <a:off x="6505575" y="2266950"/>
            <a:ext cx="19907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PK BookingPassengerID</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FK BookingID, PassengerID</a:t>
            </a:r>
          </a:p>
        </p:txBody>
      </p:sp>
      <p:sp>
        <p:nvSpPr>
          <p:cNvPr id="12" name="">
            <a:extLst xmlns:a="http://schemas.openxmlformats.org/drawingml/2006/main">
              <a:ext uri="{FF2B5EF4-FFF2-40B4-BE49-F238E27FC236}">
                <a16:creationId xmlns:a16="http://schemas.microsoft.com/office/drawing/2014/main" id="{774C73CD-000E-4E84-A194-82C2167CA9BA}"/>
              </a:ext>
            </a:extLst>
          </p:cNvPr>
          <p:cNvSpPr>
            <a:spLocks xmlns:a="http://schemas.openxmlformats.org/drawingml/2006/main" noGrp="1"/>
          </p:cNvSpPr>
          <p:nvPr/>
        </p:nvSpPr>
        <p:spPr>
          <a:xfrm xmlns:a="http://schemas.openxmlformats.org/drawingml/2006/main">
            <a:off x="9191625" y="1714500"/>
            <a:ext cx="2333625" cy="10477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13" name="">
            <a:extLst xmlns:a="http://schemas.openxmlformats.org/drawingml/2006/main">
              <a:ext uri="{FF2B5EF4-FFF2-40B4-BE49-F238E27FC236}">
                <a16:creationId xmlns:a16="http://schemas.microsoft.com/office/drawing/2014/main" id="{ED818D5D-8DA9-4243-A5B7-3C657197EFC2}"/>
              </a:ext>
            </a:extLst>
          </p:cNvPr>
          <p:cNvSpPr>
            <a:spLocks xmlns:a="http://schemas.openxmlformats.org/drawingml/2006/main" noGrp="1"/>
          </p:cNvSpPr>
          <p:nvPr/>
        </p:nvSpPr>
        <p:spPr>
          <a:xfrm xmlns:a="http://schemas.openxmlformats.org/drawingml/2006/main">
            <a:off x="9363075" y="1866900"/>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Passengers</a:t>
            </a:r>
          </a:p>
        </p:txBody>
      </p:sp>
      <p:sp>
        <p:nvSpPr>
          <p:cNvPr id="14" name="">
            <a:extLst xmlns:a="http://schemas.openxmlformats.org/drawingml/2006/main">
              <a:ext uri="{FF2B5EF4-FFF2-40B4-BE49-F238E27FC236}">
                <a16:creationId xmlns:a16="http://schemas.microsoft.com/office/drawing/2014/main" id="{268EA8F8-11AE-4A1B-AE53-615E66A04064}"/>
              </a:ext>
            </a:extLst>
          </p:cNvPr>
          <p:cNvSpPr>
            <a:spLocks xmlns:a="http://schemas.openxmlformats.org/drawingml/2006/main" noGrp="1"/>
          </p:cNvSpPr>
          <p:nvPr/>
        </p:nvSpPr>
        <p:spPr>
          <a:xfrm xmlns:a="http://schemas.openxmlformats.org/drawingml/2006/main">
            <a:off x="9363075" y="2266950"/>
            <a:ext cx="1990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PK PassengerID</a:t>
            </a:r>
          </a:p>
        </p:txBody>
      </p:sp>
      <p:sp>
        <p:nvSpPr>
          <p:cNvPr id="15" name="">
            <a:extLst xmlns:a="http://schemas.openxmlformats.org/drawingml/2006/main">
              <a:ext uri="{FF2B5EF4-FFF2-40B4-BE49-F238E27FC236}">
                <a16:creationId xmlns:a16="http://schemas.microsoft.com/office/drawing/2014/main" id="{7625D08C-D4C9-4BFB-8720-8C2310C09C56}"/>
              </a:ext>
            </a:extLst>
          </p:cNvPr>
          <p:cNvSpPr>
            <a:spLocks xmlns:a="http://schemas.openxmlformats.org/drawingml/2006/main" noGrp="1"/>
          </p:cNvSpPr>
          <p:nvPr/>
        </p:nvSpPr>
        <p:spPr>
          <a:xfrm xmlns:a="http://schemas.openxmlformats.org/drawingml/2006/main">
            <a:off x="619125" y="4124325"/>
            <a:ext cx="2333625" cy="10477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16" name="">
            <a:extLst xmlns:a="http://schemas.openxmlformats.org/drawingml/2006/main">
              <a:ext uri="{FF2B5EF4-FFF2-40B4-BE49-F238E27FC236}">
                <a16:creationId xmlns:a16="http://schemas.microsoft.com/office/drawing/2014/main" id="{10A1A9C9-1796-4973-A2D3-26836150D3B7}"/>
              </a:ext>
            </a:extLst>
          </p:cNvPr>
          <p:cNvSpPr>
            <a:spLocks xmlns:a="http://schemas.openxmlformats.org/drawingml/2006/main" noGrp="1"/>
          </p:cNvSpPr>
          <p:nvPr/>
        </p:nvSpPr>
        <p:spPr>
          <a:xfrm xmlns:a="http://schemas.openxmlformats.org/drawingml/2006/main">
            <a:off x="790575" y="4276725"/>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Flights</a:t>
            </a:r>
          </a:p>
        </p:txBody>
      </p:sp>
      <p:sp>
        <p:nvSpPr>
          <p:cNvPr id="17" name="">
            <a:extLst xmlns:a="http://schemas.openxmlformats.org/drawingml/2006/main">
              <a:ext uri="{FF2B5EF4-FFF2-40B4-BE49-F238E27FC236}">
                <a16:creationId xmlns:a16="http://schemas.microsoft.com/office/drawing/2014/main" id="{045F5254-1295-48D0-B20B-081CE3366910}"/>
              </a:ext>
            </a:extLst>
          </p:cNvPr>
          <p:cNvSpPr>
            <a:spLocks xmlns:a="http://schemas.openxmlformats.org/drawingml/2006/main" noGrp="1"/>
          </p:cNvSpPr>
          <p:nvPr/>
        </p:nvSpPr>
        <p:spPr>
          <a:xfrm xmlns:a="http://schemas.openxmlformats.org/drawingml/2006/main">
            <a:off x="790575" y="4676775"/>
            <a:ext cx="1990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PK FlightID</a:t>
            </a:r>
          </a:p>
        </p:txBody>
      </p:sp>
      <p:sp>
        <p:nvSpPr>
          <p:cNvPr id="18" name="">
            <a:extLst xmlns:a="http://schemas.openxmlformats.org/drawingml/2006/main">
              <a:ext uri="{FF2B5EF4-FFF2-40B4-BE49-F238E27FC236}">
                <a16:creationId xmlns:a16="http://schemas.microsoft.com/office/drawing/2014/main" id="{76DDA887-EB63-41C3-99E3-6FCE8D6EB5B2}"/>
              </a:ext>
            </a:extLst>
          </p:cNvPr>
          <p:cNvSpPr>
            <a:spLocks xmlns:a="http://schemas.openxmlformats.org/drawingml/2006/main" noGrp="1"/>
          </p:cNvSpPr>
          <p:nvPr/>
        </p:nvSpPr>
        <p:spPr>
          <a:xfrm xmlns:a="http://schemas.openxmlformats.org/drawingml/2006/main">
            <a:off x="3476625" y="4124325"/>
            <a:ext cx="2333625" cy="12382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19" name="">
            <a:extLst xmlns:a="http://schemas.openxmlformats.org/drawingml/2006/main">
              <a:ext uri="{FF2B5EF4-FFF2-40B4-BE49-F238E27FC236}">
                <a16:creationId xmlns:a16="http://schemas.microsoft.com/office/drawing/2014/main" id="{CDDCF650-6F2B-4F45-A0DB-1A7873142774}"/>
              </a:ext>
            </a:extLst>
          </p:cNvPr>
          <p:cNvSpPr>
            <a:spLocks xmlns:a="http://schemas.openxmlformats.org/drawingml/2006/main" noGrp="1"/>
          </p:cNvSpPr>
          <p:nvPr/>
        </p:nvSpPr>
        <p:spPr>
          <a:xfrm xmlns:a="http://schemas.openxmlformats.org/drawingml/2006/main">
            <a:off x="3648075" y="4276725"/>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Assignments</a:t>
            </a:r>
          </a:p>
        </p:txBody>
      </p:sp>
      <p:sp>
        <p:nvSpPr>
          <p:cNvPr id="20" name="">
            <a:extLst xmlns:a="http://schemas.openxmlformats.org/drawingml/2006/main">
              <a:ext uri="{FF2B5EF4-FFF2-40B4-BE49-F238E27FC236}">
                <a16:creationId xmlns:a16="http://schemas.microsoft.com/office/drawing/2014/main" id="{2412B460-9916-479D-A93E-D71883C7C1F7}"/>
              </a:ext>
            </a:extLst>
          </p:cNvPr>
          <p:cNvSpPr>
            <a:spLocks xmlns:a="http://schemas.openxmlformats.org/drawingml/2006/main" noGrp="1"/>
          </p:cNvSpPr>
          <p:nvPr/>
        </p:nvSpPr>
        <p:spPr>
          <a:xfrm xmlns:a="http://schemas.openxmlformats.org/drawingml/2006/main">
            <a:off x="3648075" y="4676775"/>
            <a:ext cx="1990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PK AssignmentID</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FK FlightID, SeatID</a:t>
            </a:r>
          </a:p>
        </p:txBody>
      </p:sp>
      <p:sp>
        <p:nvSpPr>
          <p:cNvPr id="21" name="">
            <a:extLst xmlns:a="http://schemas.openxmlformats.org/drawingml/2006/main">
              <a:ext uri="{FF2B5EF4-FFF2-40B4-BE49-F238E27FC236}">
                <a16:creationId xmlns:a16="http://schemas.microsoft.com/office/drawing/2014/main" id="{7AFF83E9-1FD3-4DE8-B12E-E0CCFD065877}"/>
              </a:ext>
            </a:extLst>
          </p:cNvPr>
          <p:cNvSpPr>
            <a:spLocks xmlns:a="http://schemas.openxmlformats.org/drawingml/2006/main" noGrp="1"/>
          </p:cNvSpPr>
          <p:nvPr/>
        </p:nvSpPr>
        <p:spPr>
          <a:xfrm xmlns:a="http://schemas.openxmlformats.org/drawingml/2006/main">
            <a:off x="6334125" y="4124325"/>
            <a:ext cx="2333625" cy="14287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22" name="">
            <a:extLst xmlns:a="http://schemas.openxmlformats.org/drawingml/2006/main">
              <a:ext uri="{FF2B5EF4-FFF2-40B4-BE49-F238E27FC236}">
                <a16:creationId xmlns:a16="http://schemas.microsoft.com/office/drawing/2014/main" id="{DE51BD05-36D1-4784-BB90-89E9ECABE4FE}"/>
              </a:ext>
            </a:extLst>
          </p:cNvPr>
          <p:cNvSpPr>
            <a:spLocks xmlns:a="http://schemas.openxmlformats.org/drawingml/2006/main" noGrp="1"/>
          </p:cNvSpPr>
          <p:nvPr/>
        </p:nvSpPr>
        <p:spPr>
          <a:xfrm xmlns:a="http://schemas.openxmlformats.org/drawingml/2006/main">
            <a:off x="6505575" y="4276725"/>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Tickets</a:t>
            </a:r>
          </a:p>
        </p:txBody>
      </p:sp>
      <p:sp>
        <p:nvSpPr>
          <p:cNvPr id="23" name="">
            <a:extLst xmlns:a="http://schemas.openxmlformats.org/drawingml/2006/main">
              <a:ext uri="{FF2B5EF4-FFF2-40B4-BE49-F238E27FC236}">
                <a16:creationId xmlns:a16="http://schemas.microsoft.com/office/drawing/2014/main" id="{30CD7D9E-8006-4939-B21C-6EFC70E02DE6}"/>
              </a:ext>
            </a:extLst>
          </p:cNvPr>
          <p:cNvSpPr>
            <a:spLocks xmlns:a="http://schemas.openxmlformats.org/drawingml/2006/main" noGrp="1"/>
          </p:cNvSpPr>
          <p:nvPr/>
        </p:nvSpPr>
        <p:spPr>
          <a:xfrm xmlns:a="http://schemas.openxmlformats.org/drawingml/2006/main">
            <a:off x="6505575" y="4676775"/>
            <a:ext cx="19907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PK TicketID</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FK BP / Assignment UNIQUE</a:t>
            </a:r>
          </a:p>
        </p:txBody>
      </p:sp>
      <p:sp>
        <p:nvSpPr>
          <p:cNvPr id="24" name="">
            <a:extLst xmlns:a="http://schemas.openxmlformats.org/drawingml/2006/main">
              <a:ext uri="{FF2B5EF4-FFF2-40B4-BE49-F238E27FC236}">
                <a16:creationId xmlns:a16="http://schemas.microsoft.com/office/drawing/2014/main" id="{0EEA39B6-D229-4DC3-8570-06DE26F02A91}"/>
              </a:ext>
            </a:extLst>
          </p:cNvPr>
          <p:cNvSpPr>
            <a:spLocks xmlns:a="http://schemas.openxmlformats.org/drawingml/2006/main" noGrp="1"/>
          </p:cNvSpPr>
          <p:nvPr/>
        </p:nvSpPr>
        <p:spPr>
          <a:xfrm xmlns:a="http://schemas.openxmlformats.org/drawingml/2006/main">
            <a:off x="9191625" y="4124325"/>
            <a:ext cx="2333625" cy="1238250"/>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25" name="">
            <a:extLst xmlns:a="http://schemas.openxmlformats.org/drawingml/2006/main">
              <a:ext uri="{FF2B5EF4-FFF2-40B4-BE49-F238E27FC236}">
                <a16:creationId xmlns:a16="http://schemas.microsoft.com/office/drawing/2014/main" id="{8DD3F1F6-8B33-41DB-9814-79FA464651E1}"/>
              </a:ext>
            </a:extLst>
          </p:cNvPr>
          <p:cNvSpPr>
            <a:spLocks xmlns:a="http://schemas.openxmlformats.org/drawingml/2006/main" noGrp="1"/>
          </p:cNvSpPr>
          <p:nvPr/>
        </p:nvSpPr>
        <p:spPr>
          <a:xfrm xmlns:a="http://schemas.openxmlformats.org/drawingml/2006/main">
            <a:off x="9363075" y="4276725"/>
            <a:ext cx="1990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Payments</a:t>
            </a:r>
          </a:p>
        </p:txBody>
      </p:sp>
      <p:sp>
        <p:nvSpPr>
          <p:cNvPr id="26" name="">
            <a:extLst xmlns:a="http://schemas.openxmlformats.org/drawingml/2006/main">
              <a:ext uri="{FF2B5EF4-FFF2-40B4-BE49-F238E27FC236}">
                <a16:creationId xmlns:a16="http://schemas.microsoft.com/office/drawing/2014/main" id="{D934D850-D0AB-4F74-AC1D-2EFEEB9B5317}"/>
              </a:ext>
            </a:extLst>
          </p:cNvPr>
          <p:cNvSpPr>
            <a:spLocks xmlns:a="http://schemas.openxmlformats.org/drawingml/2006/main" noGrp="1"/>
          </p:cNvSpPr>
          <p:nvPr/>
        </p:nvSpPr>
        <p:spPr>
          <a:xfrm xmlns:a="http://schemas.openxmlformats.org/drawingml/2006/main">
            <a:off x="9363075" y="4676775"/>
            <a:ext cx="1990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PK PaymentID</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FK BookingID</a:t>
            </a:r>
          </a:p>
        </p:txBody>
      </p:sp>
    </p:spTree>
    <p:extLst>
      <p:ext uri="{BB962C8B-B14F-4D97-AF65-F5344CB8AC3E}">
        <p14:creationId xmlns:p14="http://schemas.microsoft.com/office/powerpoint/2010/main" val="1092309178"/>
      </p:ext>
    </p:extLst>
  </p:cSld>
</p:sld>
</file>

<file path=ppt/slides/slide5.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E6C6AE-9232-483B-90DA-5A09AD0A0D3E}"/>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Chuẩn hóa và lịch sử dữ liệu</a:t>
            </a:r>
          </a:p>
        </p:txBody>
      </p:sp>
      <p:sp>
        <p:nvSpPr>
          <p:cNvPr id="2" name="">
            <a:extLst xmlns:a="http://schemas.openxmlformats.org/drawingml/2006/main">
              <a:ext uri="{FF2B5EF4-FFF2-40B4-BE49-F238E27FC236}">
                <a16:creationId xmlns:a16="http://schemas.microsoft.com/office/drawing/2014/main" id="{AD9E76CE-9E52-4320-B445-BFFD34FF8FBF}"/>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80B3237E-C0AD-48A5-A7D4-FA9C0305FDFD}"/>
              </a:ext>
            </a:extLst>
          </p:cNvPr>
          <p:cNvSpPr>
            <a:spLocks xmlns:a="http://schemas.openxmlformats.org/drawingml/2006/main" noGrp="1"/>
          </p:cNvSpPr>
          <p:nvPr/>
        </p:nvSpPr>
        <p:spPr>
          <a:xfrm xmlns:a="http://schemas.openxmlformats.org/drawingml/2006/main">
            <a:off x="762000" y="1771650"/>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B7163"/>
                </a:solidFill>
                <a:latin typeface="Arial"/>
                <a:ea typeface="Arial"/>
                <a:cs typeface="Arial"/>
              </a:defRPr>
            </a:defPPr>
          </a:lstStyle>
          <a:p xmlns:a="http://schemas.openxmlformats.org/drawingml/2006/main">
            <a:pPr>
              <a:defRPr sz="3150" b="1">
                <a:solidFill>
                  <a:srgbClr val="0B7163"/>
                </a:solidFill>
                <a:latin typeface="Arial"/>
                <a:ea typeface="Arial"/>
                <a:cs typeface="Arial"/>
              </a:defRPr>
            </a:pPr>
            <a:r>
              <a:rPr sz="3150" b="1">
                <a:solidFill>
                  <a:srgbClr val="0B7163"/>
                </a:solidFill>
                <a:latin typeface="Arial"/>
                <a:ea typeface="Arial"/>
                <a:cs typeface="Arial"/>
              </a:rPr>
              <a:t>1NF</a:t>
            </a:r>
          </a:p>
        </p:txBody>
      </p:sp>
      <p:sp>
        <p:nvSpPr>
          <p:cNvPr id="4" name="">
            <a:extLst xmlns:a="http://schemas.openxmlformats.org/drawingml/2006/main">
              <a:ext uri="{FF2B5EF4-FFF2-40B4-BE49-F238E27FC236}">
                <a16:creationId xmlns:a16="http://schemas.microsoft.com/office/drawing/2014/main" id="{568AEE08-7236-4411-B9D1-F76DD6417FC6}"/>
              </a:ext>
            </a:extLst>
          </p:cNvPr>
          <p:cNvSpPr>
            <a:spLocks xmlns:a="http://schemas.openxmlformats.org/drawingml/2006/main" noGrp="1"/>
          </p:cNvSpPr>
          <p:nvPr/>
        </p:nvSpPr>
        <p:spPr>
          <a:xfrm xmlns:a="http://schemas.openxmlformats.org/drawingml/2006/main">
            <a:off x="2857500" y="1828800"/>
            <a:ext cx="8334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35"/>
                </a:solidFill>
                <a:latin typeface="Arial"/>
                <a:ea typeface="Arial"/>
                <a:cs typeface="Arial"/>
              </a:defRPr>
            </a:defPPr>
          </a:lstStyle>
          <a:p xmlns:a="http://schemas.openxmlformats.org/drawingml/2006/main">
            <a:pPr>
              <a:defRPr sz="2175" b="0">
                <a:solidFill>
                  <a:srgbClr val="183C35"/>
                </a:solidFill>
                <a:latin typeface="Arial"/>
                <a:ea typeface="Arial"/>
                <a:cs typeface="Arial"/>
              </a:defRPr>
            </a:pPr>
            <a:r>
              <a:rPr sz="2175" b="0">
                <a:solidFill>
                  <a:srgbClr val="183C35"/>
                </a:solidFill>
                <a:latin typeface="Arial"/>
                <a:ea typeface="Arial"/>
                <a:cs typeface="Arial"/>
              </a:rPr>
              <a:t>Một hành khách, một ghế, một vé trên từng bản ghi.</a:t>
            </a:r>
          </a:p>
        </p:txBody>
      </p:sp>
      <p:sp>
        <p:nvSpPr>
          <p:cNvPr id="5" name="">
            <a:extLst xmlns:a="http://schemas.openxmlformats.org/drawingml/2006/main">
              <a:ext uri="{FF2B5EF4-FFF2-40B4-BE49-F238E27FC236}">
                <a16:creationId xmlns:a16="http://schemas.microsoft.com/office/drawing/2014/main" id="{E344361F-F061-4025-9A50-100A79D1A652}"/>
              </a:ext>
            </a:extLst>
          </p:cNvPr>
          <p:cNvSpPr>
            <a:spLocks xmlns:a="http://schemas.openxmlformats.org/drawingml/2006/main" noGrp="1"/>
          </p:cNvSpPr>
          <p:nvPr/>
        </p:nvSpPr>
        <p:spPr>
          <a:xfrm xmlns:a="http://schemas.openxmlformats.org/drawingml/2006/main">
            <a:off x="762000" y="2838450"/>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B7163"/>
                </a:solidFill>
                <a:latin typeface="Arial"/>
                <a:ea typeface="Arial"/>
                <a:cs typeface="Arial"/>
              </a:defRPr>
            </a:defPPr>
          </a:lstStyle>
          <a:p xmlns:a="http://schemas.openxmlformats.org/drawingml/2006/main">
            <a:pPr>
              <a:defRPr sz="3150" b="1">
                <a:solidFill>
                  <a:srgbClr val="0B7163"/>
                </a:solidFill>
                <a:latin typeface="Arial"/>
                <a:ea typeface="Arial"/>
                <a:cs typeface="Arial"/>
              </a:defRPr>
            </a:pPr>
            <a:r>
              <a:rPr sz="3150" b="1">
                <a:solidFill>
                  <a:srgbClr val="0B7163"/>
                </a:solidFill>
                <a:latin typeface="Arial"/>
                <a:ea typeface="Arial"/>
                <a:cs typeface="Arial"/>
              </a:rPr>
              <a:t>2NF</a:t>
            </a:r>
          </a:p>
        </p:txBody>
      </p:sp>
      <p:sp>
        <p:nvSpPr>
          <p:cNvPr id="6" name="">
            <a:extLst xmlns:a="http://schemas.openxmlformats.org/drawingml/2006/main">
              <a:ext uri="{FF2B5EF4-FFF2-40B4-BE49-F238E27FC236}">
                <a16:creationId xmlns:a16="http://schemas.microsoft.com/office/drawing/2014/main" id="{9D527A26-E503-4AA1-B278-6E6DD2F44CA9}"/>
              </a:ext>
            </a:extLst>
          </p:cNvPr>
          <p:cNvSpPr>
            <a:spLocks xmlns:a="http://schemas.openxmlformats.org/drawingml/2006/main" noGrp="1"/>
          </p:cNvSpPr>
          <p:nvPr/>
        </p:nvSpPr>
        <p:spPr>
          <a:xfrm xmlns:a="http://schemas.openxmlformats.org/drawingml/2006/main">
            <a:off x="2857500" y="2895600"/>
            <a:ext cx="8334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35"/>
                </a:solidFill>
                <a:latin typeface="Arial"/>
                <a:ea typeface="Arial"/>
                <a:cs typeface="Arial"/>
              </a:defRPr>
            </a:defPPr>
          </a:lstStyle>
          <a:p xmlns:a="http://schemas.openxmlformats.org/drawingml/2006/main">
            <a:pPr>
              <a:defRPr sz="2175" b="0">
                <a:solidFill>
                  <a:srgbClr val="183C35"/>
                </a:solidFill>
                <a:latin typeface="Arial"/>
                <a:ea typeface="Arial"/>
                <a:cs typeface="Arial"/>
              </a:defRPr>
            </a:pPr>
            <a:r>
              <a:rPr sz="2175" b="0">
                <a:solidFill>
                  <a:srgbClr val="183C35"/>
                </a:solidFill>
                <a:latin typeface="Arial"/>
                <a:ea typeface="Arial"/>
                <a:cs typeface="Arial"/>
              </a:rPr>
              <a:t>Giá hiện hành phụ thuộc cả chuyến bay và hạng vé.</a:t>
            </a:r>
          </a:p>
        </p:txBody>
      </p:sp>
      <p:sp>
        <p:nvSpPr>
          <p:cNvPr id="7" name="">
            <a:extLst xmlns:a="http://schemas.openxmlformats.org/drawingml/2006/main">
              <a:ext uri="{FF2B5EF4-FFF2-40B4-BE49-F238E27FC236}">
                <a16:creationId xmlns:a16="http://schemas.microsoft.com/office/drawing/2014/main" id="{2DB59C4C-6B94-4C96-A3E8-3C19684C4F4A}"/>
              </a:ext>
            </a:extLst>
          </p:cNvPr>
          <p:cNvSpPr>
            <a:spLocks xmlns:a="http://schemas.openxmlformats.org/drawingml/2006/main" noGrp="1"/>
          </p:cNvSpPr>
          <p:nvPr/>
        </p:nvSpPr>
        <p:spPr>
          <a:xfrm xmlns:a="http://schemas.openxmlformats.org/drawingml/2006/main">
            <a:off x="762000" y="3905250"/>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B7163"/>
                </a:solidFill>
                <a:latin typeface="Arial"/>
                <a:ea typeface="Arial"/>
                <a:cs typeface="Arial"/>
              </a:defRPr>
            </a:defPPr>
          </a:lstStyle>
          <a:p xmlns:a="http://schemas.openxmlformats.org/drawingml/2006/main">
            <a:pPr>
              <a:defRPr sz="3150" b="1">
                <a:solidFill>
                  <a:srgbClr val="0B7163"/>
                </a:solidFill>
                <a:latin typeface="Arial"/>
                <a:ea typeface="Arial"/>
                <a:cs typeface="Arial"/>
              </a:defRPr>
            </a:pPr>
            <a:r>
              <a:rPr sz="3150" b="1">
                <a:solidFill>
                  <a:srgbClr val="0B7163"/>
                </a:solidFill>
                <a:latin typeface="Arial"/>
                <a:ea typeface="Arial"/>
                <a:cs typeface="Arial"/>
              </a:rPr>
              <a:t>3NF</a:t>
            </a:r>
          </a:p>
        </p:txBody>
      </p:sp>
      <p:sp>
        <p:nvSpPr>
          <p:cNvPr id="8" name="">
            <a:extLst xmlns:a="http://schemas.openxmlformats.org/drawingml/2006/main">
              <a:ext uri="{FF2B5EF4-FFF2-40B4-BE49-F238E27FC236}">
                <a16:creationId xmlns:a16="http://schemas.microsoft.com/office/drawing/2014/main" id="{BC1322F4-6DD8-4953-BE9C-4E313B3BCC34}"/>
              </a:ext>
            </a:extLst>
          </p:cNvPr>
          <p:cNvSpPr>
            <a:spLocks xmlns:a="http://schemas.openxmlformats.org/drawingml/2006/main" noGrp="1"/>
          </p:cNvSpPr>
          <p:nvPr/>
        </p:nvSpPr>
        <p:spPr>
          <a:xfrm xmlns:a="http://schemas.openxmlformats.org/drawingml/2006/main">
            <a:off x="2857500" y="3962400"/>
            <a:ext cx="8334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35"/>
                </a:solidFill>
                <a:latin typeface="Arial"/>
                <a:ea typeface="Arial"/>
                <a:cs typeface="Arial"/>
              </a:defRPr>
            </a:defPPr>
          </a:lstStyle>
          <a:p xmlns:a="http://schemas.openxmlformats.org/drawingml/2006/main">
            <a:pPr>
              <a:defRPr sz="2175" b="0">
                <a:solidFill>
                  <a:srgbClr val="183C35"/>
                </a:solidFill>
                <a:latin typeface="Arial"/>
                <a:ea typeface="Arial"/>
                <a:cs typeface="Arial"/>
              </a:defRPr>
            </a:pPr>
            <a:r>
              <a:rPr sz="2175" b="0">
                <a:solidFill>
                  <a:srgbClr val="183C35"/>
                </a:solidFill>
                <a:latin typeface="Arial"/>
                <a:ea typeface="Arial"/>
                <a:cs typeface="Arial"/>
              </a:rPr>
              <a:t>Tên sân bay, hãng bay và vai trò nằm ở danh mục riêng.</a:t>
            </a:r>
          </a:p>
        </p:txBody>
      </p:sp>
      <p:sp>
        <p:nvSpPr>
          <p:cNvPr id="9" name="">
            <a:extLst xmlns:a="http://schemas.openxmlformats.org/drawingml/2006/main">
              <a:ext uri="{FF2B5EF4-FFF2-40B4-BE49-F238E27FC236}">
                <a16:creationId xmlns:a16="http://schemas.microsoft.com/office/drawing/2014/main" id="{BCBDBAB6-9F57-4CB7-BD59-F24D58376BC1}"/>
              </a:ext>
            </a:extLst>
          </p:cNvPr>
          <p:cNvSpPr>
            <a:spLocks xmlns:a="http://schemas.openxmlformats.org/drawingml/2006/main" noGrp="1"/>
          </p:cNvSpPr>
          <p:nvPr/>
        </p:nvSpPr>
        <p:spPr>
          <a:xfrm xmlns:a="http://schemas.openxmlformats.org/drawingml/2006/main">
            <a:off x="762000" y="5162550"/>
            <a:ext cx="10668000" cy="0"/>
          </a:xfrm>
          <a:prstGeom xmlns:a="http://schemas.openxmlformats.org/drawingml/2006/main" prst="line">
            <a:avLst/>
          </a:prstGeom>
          <a:ln xmlns:a="http://schemas.openxmlformats.org/drawingml/2006/main" w="14288">
            <a:solidFill>
              <a:srgbClr val="C9DCD3"/>
            </a:solidFill>
          </a:ln>
        </p:spPr>
      </p:sp>
      <p:sp>
        <p:nvSpPr>
          <p:cNvPr id="10" name="">
            <a:extLst xmlns:a="http://schemas.openxmlformats.org/drawingml/2006/main">
              <a:ext uri="{FF2B5EF4-FFF2-40B4-BE49-F238E27FC236}">
                <a16:creationId xmlns:a16="http://schemas.microsoft.com/office/drawing/2014/main" id="{D0437A45-900C-428D-8A0E-EC83C1238B27}"/>
              </a:ext>
            </a:extLst>
          </p:cNvPr>
          <p:cNvSpPr>
            <a:spLocks xmlns:a="http://schemas.openxmlformats.org/drawingml/2006/main" noGrp="1"/>
          </p:cNvSpPr>
          <p:nvPr/>
        </p:nvSpPr>
        <p:spPr>
          <a:xfrm xmlns:a="http://schemas.openxmlformats.org/drawingml/2006/main">
            <a:off x="762000" y="5505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E746C"/>
                </a:solidFill>
                <a:latin typeface="Arial"/>
                <a:ea typeface="Arial"/>
                <a:cs typeface="Arial"/>
              </a:defRPr>
            </a:defPPr>
          </a:lstStyle>
          <a:p xmlns:a="http://schemas.openxmlformats.org/drawingml/2006/main">
            <a:pPr>
              <a:defRPr sz="2025" b="0">
                <a:solidFill>
                  <a:srgbClr val="5E746C"/>
                </a:solidFill>
                <a:latin typeface="Arial"/>
                <a:ea typeface="Arial"/>
                <a:cs typeface="Arial"/>
              </a:defRPr>
            </a:pPr>
            <a:r>
              <a:rPr sz="2025" b="0">
                <a:solidFill>
                  <a:srgbClr val="5E746C"/>
                </a:solidFill>
                <a:latin typeface="Arial"/>
                <a:ea typeface="Arial"/>
                <a:cs typeface="Arial"/>
              </a:rPr>
              <a:t>Giá và tỷ lệ hoàn trên vé là điều khoản được chốt lúc đặt.</a:t>
            </a:r>
          </a:p>
        </p:txBody>
      </p:sp>
    </p:spTree>
    <p:extLst>
      <p:ext uri="{BB962C8B-B14F-4D97-AF65-F5344CB8AC3E}">
        <p14:creationId xmlns:p14="http://schemas.microsoft.com/office/powerpoint/2010/main" val="1361822901"/>
      </p:ext>
    </p:extLst>
  </p:cSld>
</p:sld>
</file>

<file path=ppt/slides/slide6.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FF490D-4EF1-45D8-B974-E02D78849D28}"/>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Ràng buộc chống đặt trùng ghế</a:t>
            </a:r>
          </a:p>
        </p:txBody>
      </p:sp>
      <p:sp>
        <p:nvSpPr>
          <p:cNvPr id="2" name="">
            <a:extLst xmlns:a="http://schemas.openxmlformats.org/drawingml/2006/main">
              <a:ext uri="{FF2B5EF4-FFF2-40B4-BE49-F238E27FC236}">
                <a16:creationId xmlns:a16="http://schemas.microsoft.com/office/drawing/2014/main" id="{5889A379-EFF2-4C3F-957B-9A4B9E336E17}"/>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125D76B-DC3F-4C28-A467-8ABF3787BE50}"/>
              </a:ext>
            </a:extLst>
          </p:cNvPr>
          <p:cNvSpPr>
            <a:spLocks xmlns:a="http://schemas.openxmlformats.org/drawingml/2006/main" noGrp="1"/>
          </p:cNvSpPr>
          <p:nvPr/>
        </p:nvSpPr>
        <p:spPr>
          <a:xfrm xmlns:a="http://schemas.openxmlformats.org/drawingml/2006/main">
            <a:off x="762000" y="1619250"/>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B7163"/>
                </a:solidFill>
                <a:latin typeface="Arial"/>
                <a:ea typeface="Arial"/>
                <a:cs typeface="Arial"/>
              </a:defRPr>
            </a:defPPr>
          </a:lstStyle>
          <a:p xmlns:a="http://schemas.openxmlformats.org/drawingml/2006/main">
            <a:pPr>
              <a:defRPr sz="2700" b="1">
                <a:solidFill>
                  <a:srgbClr val="0B7163"/>
                </a:solidFill>
                <a:latin typeface="Arial"/>
                <a:ea typeface="Arial"/>
                <a:cs typeface="Arial"/>
              </a:defRPr>
            </a:pPr>
            <a:r>
              <a:rPr sz="2700" b="1">
                <a:solidFill>
                  <a:srgbClr val="0B7163"/>
                </a:solidFill>
                <a:latin typeface="Arial"/>
                <a:ea typeface="Arial"/>
                <a:cs typeface="Arial"/>
              </a:rPr>
              <a:t>Một ghế / một chuyến / một lượt sở hữu đang hiệu lực</a:t>
            </a:r>
          </a:p>
        </p:txBody>
      </p:sp>
      <p:sp>
        <p:nvSpPr>
          <p:cNvPr id="4" name="">
            <a:extLst xmlns:a="http://schemas.openxmlformats.org/drawingml/2006/main">
              <a:ext uri="{FF2B5EF4-FFF2-40B4-BE49-F238E27FC236}">
                <a16:creationId xmlns:a16="http://schemas.microsoft.com/office/drawing/2014/main" id="{1535C9BD-5A19-4335-920E-EC7BC067C5F7}"/>
              </a:ext>
            </a:extLst>
          </p:cNvPr>
          <p:cNvSpPr>
            <a:spLocks xmlns:a="http://schemas.openxmlformats.org/drawingml/2006/main" noGrp="1"/>
          </p:cNvSpPr>
          <p:nvPr/>
        </p:nvSpPr>
        <p:spPr>
          <a:xfrm xmlns:a="http://schemas.openxmlformats.org/drawingml/2006/main">
            <a:off x="800100" y="2857500"/>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3C35"/>
                </a:solidFill>
                <a:latin typeface="Arial"/>
                <a:ea typeface="Arial"/>
                <a:cs typeface="Arial"/>
              </a:defRPr>
            </a:defPPr>
          </a:lstStyle>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CREATE UNIQUE INDEX UX_Assignments_ActiveSeat</a:t>
            </a:r>
          </a:p>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ON FlightSeatAssignments (FlightID, SeatID)</a:t>
            </a:r>
          </a:p>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WHERE IsActive = 1;</a:t>
            </a:r>
          </a:p>
        </p:txBody>
      </p:sp>
      <p:sp>
        <p:nvSpPr>
          <p:cNvPr id="5" name="">
            <a:extLst xmlns:a="http://schemas.openxmlformats.org/drawingml/2006/main">
              <a:ext uri="{FF2B5EF4-FFF2-40B4-BE49-F238E27FC236}">
                <a16:creationId xmlns:a16="http://schemas.microsoft.com/office/drawing/2014/main" id="{474064B4-E34F-4654-AF5F-9937ECD609DD}"/>
              </a:ext>
            </a:extLst>
          </p:cNvPr>
          <p:cNvSpPr>
            <a:spLocks xmlns:a="http://schemas.openxmlformats.org/drawingml/2006/main" noGrp="1"/>
          </p:cNvSpPr>
          <p:nvPr/>
        </p:nvSpPr>
        <p:spPr>
          <a:xfrm xmlns:a="http://schemas.openxmlformats.org/drawingml/2006/main">
            <a:off x="762000" y="4733925"/>
            <a:ext cx="10668000" cy="0"/>
          </a:xfrm>
          <a:prstGeom xmlns:a="http://schemas.openxmlformats.org/drawingml/2006/main" prst="line">
            <a:avLst/>
          </a:prstGeom>
          <a:ln xmlns:a="http://schemas.openxmlformats.org/drawingml/2006/main" w="14288">
            <a:solidFill>
              <a:srgbClr val="C9DCD3"/>
            </a:solidFill>
          </a:ln>
        </p:spPr>
      </p:sp>
      <p:sp>
        <p:nvSpPr>
          <p:cNvPr id="6" name="">
            <a:extLst xmlns:a="http://schemas.openxmlformats.org/drawingml/2006/main">
              <a:ext uri="{FF2B5EF4-FFF2-40B4-BE49-F238E27FC236}">
                <a16:creationId xmlns:a16="http://schemas.microsoft.com/office/drawing/2014/main" id="{4BA140E7-7807-48C9-AF09-1A21EEF5D5AA}"/>
              </a:ext>
            </a:extLst>
          </p:cNvPr>
          <p:cNvSpPr>
            <a:spLocks xmlns:a="http://schemas.openxmlformats.org/drawingml/2006/main" noGrp="1"/>
          </p:cNvSpPr>
          <p:nvPr/>
        </p:nvSpPr>
        <p:spPr>
          <a:xfrm xmlns:a="http://schemas.openxmlformats.org/drawingml/2006/main">
            <a:off x="800100" y="51816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Giữ ghế và vé đã thanh toán đều chiếm ghế.</a:t>
            </a:r>
          </a:p>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Hủy hoặc hết hạn đặt IsActive = 0 trong transaction.</a:t>
            </a:r>
          </a:p>
        </p:txBody>
      </p:sp>
    </p:spTree>
    <p:extLst>
      <p:ext uri="{BB962C8B-B14F-4D97-AF65-F5344CB8AC3E}">
        <p14:creationId xmlns:p14="http://schemas.microsoft.com/office/powerpoint/2010/main" val="470940184"/>
      </p:ext>
    </p:extLst>
  </p:cSld>
</p:sld>
</file>

<file path=ppt/slides/slide7.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2D495C4-0A8A-4C60-8A0C-2EB04818546B}"/>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Hai khách cùng chọn A1</a:t>
            </a:r>
          </a:p>
        </p:txBody>
      </p:sp>
      <p:sp>
        <p:nvSpPr>
          <p:cNvPr id="2" name="">
            <a:extLst xmlns:a="http://schemas.openxmlformats.org/drawingml/2006/main">
              <a:ext uri="{FF2B5EF4-FFF2-40B4-BE49-F238E27FC236}">
                <a16:creationId xmlns:a16="http://schemas.microsoft.com/office/drawing/2014/main" id="{1E2C1144-F9C0-4E3C-AEB2-B786467FB367}"/>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841B9DAF-2458-4263-8767-CB60DC00D9FA}"/>
              </a:ext>
            </a:extLst>
          </p:cNvPr>
          <p:cNvSpPr>
            <a:spLocks xmlns:a="http://schemas.openxmlformats.org/drawingml/2006/main" noGrp="1"/>
          </p:cNvSpPr>
          <p:nvPr/>
        </p:nvSpPr>
        <p:spPr>
          <a:xfrm xmlns:a="http://schemas.openxmlformats.org/drawingml/2006/main">
            <a:off x="904875" y="16859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B7163"/>
                </a:solidFill>
                <a:latin typeface="Arial"/>
                <a:ea typeface="Arial"/>
                <a:cs typeface="Arial"/>
              </a:defRPr>
            </a:defPPr>
          </a:lstStyle>
          <a:p xmlns:a="http://schemas.openxmlformats.org/drawingml/2006/main">
            <a:pPr>
              <a:defRPr sz="2400" b="1">
                <a:solidFill>
                  <a:srgbClr val="0B7163"/>
                </a:solidFill>
                <a:latin typeface="Arial"/>
                <a:ea typeface="Arial"/>
                <a:cs typeface="Arial"/>
              </a:defRPr>
            </a:pPr>
            <a:r>
              <a:rPr sz="2400" b="1">
                <a:solidFill>
                  <a:srgbClr val="0B7163"/>
                </a:solidFill>
                <a:latin typeface="Arial"/>
                <a:ea typeface="Arial"/>
                <a:cs typeface="Arial"/>
              </a:rPr>
              <a:t>Khách A</a:t>
            </a:r>
          </a:p>
        </p:txBody>
      </p:sp>
      <p:sp>
        <p:nvSpPr>
          <p:cNvPr id="4" name="">
            <a:extLst xmlns:a="http://schemas.openxmlformats.org/drawingml/2006/main">
              <a:ext uri="{FF2B5EF4-FFF2-40B4-BE49-F238E27FC236}">
                <a16:creationId xmlns:a16="http://schemas.microsoft.com/office/drawing/2014/main" id="{DC730946-6BBB-4365-8ED2-52B9526685D5}"/>
              </a:ext>
            </a:extLst>
          </p:cNvPr>
          <p:cNvSpPr>
            <a:spLocks xmlns:a="http://schemas.openxmlformats.org/drawingml/2006/main" noGrp="1"/>
          </p:cNvSpPr>
          <p:nvPr/>
        </p:nvSpPr>
        <p:spPr>
          <a:xfrm xmlns:a="http://schemas.openxmlformats.org/drawingml/2006/main">
            <a:off x="6858000" y="16859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B7163"/>
                </a:solidFill>
                <a:latin typeface="Arial"/>
                <a:ea typeface="Arial"/>
                <a:cs typeface="Arial"/>
              </a:defRPr>
            </a:defPPr>
          </a:lstStyle>
          <a:p xmlns:a="http://schemas.openxmlformats.org/drawingml/2006/main">
            <a:pPr>
              <a:defRPr sz="2400" b="1">
                <a:solidFill>
                  <a:srgbClr val="0B7163"/>
                </a:solidFill>
                <a:latin typeface="Arial"/>
                <a:ea typeface="Arial"/>
                <a:cs typeface="Arial"/>
              </a:defRPr>
            </a:pPr>
            <a:r>
              <a:rPr sz="2400" b="1">
                <a:solidFill>
                  <a:srgbClr val="0B7163"/>
                </a:solidFill>
                <a:latin typeface="Arial"/>
                <a:ea typeface="Arial"/>
                <a:cs typeface="Arial"/>
              </a:rPr>
              <a:t>Khách B</a:t>
            </a:r>
          </a:p>
        </p:txBody>
      </p:sp>
      <p:sp>
        <p:nvSpPr>
          <p:cNvPr id="5" name="">
            <a:extLst xmlns:a="http://schemas.openxmlformats.org/drawingml/2006/main">
              <a:ext uri="{FF2B5EF4-FFF2-40B4-BE49-F238E27FC236}">
                <a16:creationId xmlns:a16="http://schemas.microsoft.com/office/drawing/2014/main" id="{C964AE50-CDD3-4AA1-B65A-F925AA67D0D5}"/>
              </a:ext>
            </a:extLst>
          </p:cNvPr>
          <p:cNvSpPr>
            <a:spLocks xmlns:a="http://schemas.openxmlformats.org/drawingml/2006/main" noGrp="1"/>
          </p:cNvSpPr>
          <p:nvPr/>
        </p:nvSpPr>
        <p:spPr>
          <a:xfrm xmlns:a="http://schemas.openxmlformats.org/drawingml/2006/main">
            <a:off x="762000" y="2314575"/>
            <a:ext cx="10668000" cy="0"/>
          </a:xfrm>
          <a:prstGeom xmlns:a="http://schemas.openxmlformats.org/drawingml/2006/main" prst="line">
            <a:avLst/>
          </a:prstGeom>
          <a:ln xmlns:a="http://schemas.openxmlformats.org/drawingml/2006/main" w="14288">
            <a:solidFill>
              <a:srgbClr val="C9DCD3"/>
            </a:solidFill>
          </a:ln>
        </p:spPr>
      </p:sp>
      <p:sp>
        <p:nvSpPr>
          <p:cNvPr id="6" name="">
            <a:extLst xmlns:a="http://schemas.openxmlformats.org/drawingml/2006/main">
              <a:ext uri="{FF2B5EF4-FFF2-40B4-BE49-F238E27FC236}">
                <a16:creationId xmlns:a16="http://schemas.microsoft.com/office/drawing/2014/main" id="{7F4A4B16-A9E2-4F7A-9E57-6FAE635E095A}"/>
              </a:ext>
            </a:extLst>
          </p:cNvPr>
          <p:cNvSpPr>
            <a:spLocks xmlns:a="http://schemas.openxmlformats.org/drawingml/2006/main" noGrp="1"/>
          </p:cNvSpPr>
          <p:nvPr/>
        </p:nvSpPr>
        <p:spPr>
          <a:xfrm xmlns:a="http://schemas.openxmlformats.org/drawingml/2006/main">
            <a:off x="904875" y="2638425"/>
            <a:ext cx="471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Giữ khóa của chuyến bay</a:t>
            </a:r>
          </a:p>
        </p:txBody>
      </p:sp>
      <p:sp>
        <p:nvSpPr>
          <p:cNvPr id="7" name="">
            <a:extLst xmlns:a="http://schemas.openxmlformats.org/drawingml/2006/main">
              <a:ext uri="{FF2B5EF4-FFF2-40B4-BE49-F238E27FC236}">
                <a16:creationId xmlns:a16="http://schemas.microsoft.com/office/drawing/2014/main" id="{11D99026-EA35-473E-828F-19F1AABE1058}"/>
              </a:ext>
            </a:extLst>
          </p:cNvPr>
          <p:cNvSpPr>
            <a:spLocks xmlns:a="http://schemas.openxmlformats.org/drawingml/2006/main" noGrp="1"/>
          </p:cNvSpPr>
          <p:nvPr/>
        </p:nvSpPr>
        <p:spPr>
          <a:xfrm xmlns:a="http://schemas.openxmlformats.org/drawingml/2006/main">
            <a:off x="6858000" y="263842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Gửi yêu cầu cùng lúc</a:t>
            </a:r>
          </a:p>
        </p:txBody>
      </p:sp>
      <p:sp>
        <p:nvSpPr>
          <p:cNvPr id="8" name="">
            <a:extLst xmlns:a="http://schemas.openxmlformats.org/drawingml/2006/main">
              <a:ext uri="{FF2B5EF4-FFF2-40B4-BE49-F238E27FC236}">
                <a16:creationId xmlns:a16="http://schemas.microsoft.com/office/drawing/2014/main" id="{BEBF0C69-55A2-47E2-8E51-70B20E019627}"/>
              </a:ext>
            </a:extLst>
          </p:cNvPr>
          <p:cNvSpPr>
            <a:spLocks xmlns:a="http://schemas.openxmlformats.org/drawingml/2006/main" noGrp="1"/>
          </p:cNvSpPr>
          <p:nvPr/>
        </p:nvSpPr>
        <p:spPr>
          <a:xfrm xmlns:a="http://schemas.openxmlformats.org/drawingml/2006/main">
            <a:off x="904875" y="3352800"/>
            <a:ext cx="471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Kiểm tra ghế còn trống</a:t>
            </a:r>
          </a:p>
        </p:txBody>
      </p:sp>
      <p:sp>
        <p:nvSpPr>
          <p:cNvPr id="9" name="">
            <a:extLst xmlns:a="http://schemas.openxmlformats.org/drawingml/2006/main">
              <a:ext uri="{FF2B5EF4-FFF2-40B4-BE49-F238E27FC236}">
                <a16:creationId xmlns:a16="http://schemas.microsoft.com/office/drawing/2014/main" id="{977A8994-3DD4-4009-AF19-0C49FF01277F}"/>
              </a:ext>
            </a:extLst>
          </p:cNvPr>
          <p:cNvSpPr>
            <a:spLocks xmlns:a="http://schemas.openxmlformats.org/drawingml/2006/main" noGrp="1"/>
          </p:cNvSpPr>
          <p:nvPr/>
        </p:nvSpPr>
        <p:spPr>
          <a:xfrm xmlns:a="http://schemas.openxmlformats.org/drawingml/2006/main">
            <a:off x="6858000" y="33528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Đợi khóa của chuyến bay</a:t>
            </a:r>
          </a:p>
        </p:txBody>
      </p:sp>
      <p:sp>
        <p:nvSpPr>
          <p:cNvPr id="10" name="">
            <a:extLst xmlns:a="http://schemas.openxmlformats.org/drawingml/2006/main">
              <a:ext uri="{FF2B5EF4-FFF2-40B4-BE49-F238E27FC236}">
                <a16:creationId xmlns:a16="http://schemas.microsoft.com/office/drawing/2014/main" id="{6813CDDF-8F04-43D3-9E3A-8A81A29F5EB9}"/>
              </a:ext>
            </a:extLst>
          </p:cNvPr>
          <p:cNvSpPr>
            <a:spLocks xmlns:a="http://schemas.openxmlformats.org/drawingml/2006/main" noGrp="1"/>
          </p:cNvSpPr>
          <p:nvPr/>
        </p:nvSpPr>
        <p:spPr>
          <a:xfrm xmlns:a="http://schemas.openxmlformats.org/drawingml/2006/main">
            <a:off x="904875" y="4067175"/>
            <a:ext cx="471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Tạo booking và cấp ghế</a:t>
            </a:r>
          </a:p>
        </p:txBody>
      </p:sp>
      <p:sp>
        <p:nvSpPr>
          <p:cNvPr id="11" name="">
            <a:extLst xmlns:a="http://schemas.openxmlformats.org/drawingml/2006/main">
              <a:ext uri="{FF2B5EF4-FFF2-40B4-BE49-F238E27FC236}">
                <a16:creationId xmlns:a16="http://schemas.microsoft.com/office/drawing/2014/main" id="{95A2987A-5690-40DF-A00F-B30B546D6408}"/>
              </a:ext>
            </a:extLst>
          </p:cNvPr>
          <p:cNvSpPr>
            <a:spLocks xmlns:a="http://schemas.openxmlformats.org/drawingml/2006/main" noGrp="1"/>
          </p:cNvSpPr>
          <p:nvPr/>
        </p:nvSpPr>
        <p:spPr>
          <a:xfrm xmlns:a="http://schemas.openxmlformats.org/drawingml/2006/main">
            <a:off x="6858000" y="40671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Đọc lại assignment active</a:t>
            </a:r>
          </a:p>
        </p:txBody>
      </p:sp>
      <p:sp>
        <p:nvSpPr>
          <p:cNvPr id="12" name="">
            <a:extLst xmlns:a="http://schemas.openxmlformats.org/drawingml/2006/main">
              <a:ext uri="{FF2B5EF4-FFF2-40B4-BE49-F238E27FC236}">
                <a16:creationId xmlns:a16="http://schemas.microsoft.com/office/drawing/2014/main" id="{F234F6D4-0FF8-4790-BEE2-D7D78A0154F1}"/>
              </a:ext>
            </a:extLst>
          </p:cNvPr>
          <p:cNvSpPr>
            <a:spLocks xmlns:a="http://schemas.openxmlformats.org/drawingml/2006/main" noGrp="1"/>
          </p:cNvSpPr>
          <p:nvPr/>
        </p:nvSpPr>
        <p:spPr>
          <a:xfrm xmlns:a="http://schemas.openxmlformats.org/drawingml/2006/main">
            <a:off x="904875" y="4781550"/>
            <a:ext cx="471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COMMIT, trả 201</a:t>
            </a:r>
          </a:p>
        </p:txBody>
      </p:sp>
      <p:sp>
        <p:nvSpPr>
          <p:cNvPr id="13" name="">
            <a:extLst xmlns:a="http://schemas.openxmlformats.org/drawingml/2006/main">
              <a:ext uri="{FF2B5EF4-FFF2-40B4-BE49-F238E27FC236}">
                <a16:creationId xmlns:a16="http://schemas.microsoft.com/office/drawing/2014/main" id="{39F91685-7FF3-4EE1-AE8D-66C74AF189D6}"/>
              </a:ext>
            </a:extLst>
          </p:cNvPr>
          <p:cNvSpPr>
            <a:spLocks xmlns:a="http://schemas.openxmlformats.org/drawingml/2006/main" noGrp="1"/>
          </p:cNvSpPr>
          <p:nvPr/>
        </p:nvSpPr>
        <p:spPr>
          <a:xfrm xmlns:a="http://schemas.openxmlformats.org/drawingml/2006/main">
            <a:off x="6858000" y="47815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Trả 409, yêu cầu chọn ghế khác</a:t>
            </a:r>
          </a:p>
        </p:txBody>
      </p:sp>
    </p:spTree>
    <p:extLst>
      <p:ext uri="{BB962C8B-B14F-4D97-AF65-F5344CB8AC3E}">
        <p14:creationId xmlns:p14="http://schemas.microsoft.com/office/powerpoint/2010/main" val="52433052"/>
      </p:ext>
    </p:extLst>
  </p:cSld>
</p:sld>
</file>

<file path=ppt/slides/slide8.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F2FAE449-B13D-49ED-BE57-60A7A2CA3BFA}"/>
              </a:ext>
            </a:extLst>
          </p:cNvPr>
          <p:cNvCxnSpPr>
            <a:stCxn xmlns:a="http://schemas.openxmlformats.org/drawingml/2006/main" id="6" idx="3"/>
            <a:endCxn xmlns:a="http://schemas.openxmlformats.org/drawingml/2006/main" id="9" idx="1"/>
          </p:cNvCxnSpPr>
          <p:nvPr/>
        </p:nvCxnSpPr>
        <p:spPr>
          <a:xfrm xmlns:a="http://schemas.openxmlformats.org/drawingml/2006/main">
            <a:off x="7524750" y="2767013"/>
            <a:ext cx="1000125" cy="0"/>
          </a:xfrm>
          <a:prstGeom xmlns:a="http://schemas.openxmlformats.org/drawingml/2006/main" prst="straightConnector1">
            <a:avLst/>
          </a:prstGeom>
          <a:ln xmlns:a="http://schemas.openxmlformats.org/drawingml/2006/main" w="19050">
            <a:solidFill>
              <a:srgbClr val="0B7163"/>
            </a:solidFill>
            <a:tailEnd type="triangle" w="sm" len="sm"/>
          </a:ln>
        </p:spPr>
      </p:cxnSp>
      <p:cxnSp>
        <p:nvCxnSpPr>
          <p:cNvPr id="12" name="">
            <a:extLst xmlns:a="http://schemas.openxmlformats.org/drawingml/2006/main">
              <a:ext uri="{FF2B5EF4-FFF2-40B4-BE49-F238E27FC236}">
                <a16:creationId xmlns:a16="http://schemas.microsoft.com/office/drawing/2014/main" id="{8720EC97-A931-4B91-A9BE-C82A5B7752A6}"/>
              </a:ext>
            </a:extLst>
          </p:cNvPr>
          <p:cNvCxnSpPr>
            <a:stCxn xmlns:a="http://schemas.openxmlformats.org/drawingml/2006/main" id="3" idx="3"/>
            <a:endCxn xmlns:a="http://schemas.openxmlformats.org/drawingml/2006/main" id="6" idx="1"/>
          </p:cNvCxnSpPr>
          <p:nvPr/>
        </p:nvCxnSpPr>
        <p:spPr>
          <a:xfrm xmlns:a="http://schemas.openxmlformats.org/drawingml/2006/main">
            <a:off x="3667125" y="2767013"/>
            <a:ext cx="1000125" cy="0"/>
          </a:xfrm>
          <a:prstGeom xmlns:a="http://schemas.openxmlformats.org/drawingml/2006/main" prst="straightConnector1">
            <a:avLst/>
          </a:prstGeom>
          <a:ln xmlns:a="http://schemas.openxmlformats.org/drawingml/2006/main" w="19050">
            <a:solidFill>
              <a:srgbClr val="0B7163"/>
            </a:solidFill>
            <a:tailEnd type="triangle" w="sm" len="sm"/>
          </a:ln>
        </p:spPr>
      </p:cxnSp>
      <p:sp>
        <p:nvSpPr>
          <p:cNvPr id="17" name="">
            <a:extLst xmlns:a="http://schemas.openxmlformats.org/drawingml/2006/main">
              <a:ext uri="{FF2B5EF4-FFF2-40B4-BE49-F238E27FC236}">
                <a16:creationId xmlns:a16="http://schemas.microsoft.com/office/drawing/2014/main" id="{1214FDD8-4515-4007-835B-776BA276453F}"/>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Thanh toán, hết hạn và hoàn tiền</a:t>
            </a:r>
          </a:p>
        </p:txBody>
      </p:sp>
      <p:sp>
        <p:nvSpPr>
          <p:cNvPr id="2" name="">
            <a:extLst xmlns:a="http://schemas.openxmlformats.org/drawingml/2006/main">
              <a:ext uri="{FF2B5EF4-FFF2-40B4-BE49-F238E27FC236}">
                <a16:creationId xmlns:a16="http://schemas.microsoft.com/office/drawing/2014/main" id="{037D8A9D-0115-4E71-8859-1074F82312A9}"/>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493CDFF-B47C-40C6-A1F7-52B969BE8711}"/>
              </a:ext>
            </a:extLst>
          </p:cNvPr>
          <p:cNvSpPr>
            <a:spLocks xmlns:a="http://schemas.openxmlformats.org/drawingml/2006/main" noGrp="1"/>
          </p:cNvSpPr>
          <p:nvPr/>
        </p:nvSpPr>
        <p:spPr>
          <a:xfrm xmlns:a="http://schemas.openxmlformats.org/drawingml/2006/main">
            <a:off x="809625" y="1981200"/>
            <a:ext cx="2857500" cy="1571625"/>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4" name="">
            <a:extLst xmlns:a="http://schemas.openxmlformats.org/drawingml/2006/main">
              <a:ext uri="{FF2B5EF4-FFF2-40B4-BE49-F238E27FC236}">
                <a16:creationId xmlns:a16="http://schemas.microsoft.com/office/drawing/2014/main" id="{8905AD15-7CF0-40D7-975F-B4021044CD9E}"/>
              </a:ext>
            </a:extLst>
          </p:cNvPr>
          <p:cNvSpPr>
            <a:spLocks xmlns:a="http://schemas.openxmlformats.org/drawingml/2006/main" noGrp="1"/>
          </p:cNvSpPr>
          <p:nvPr/>
        </p:nvSpPr>
        <p:spPr>
          <a:xfrm xmlns:a="http://schemas.openxmlformats.org/drawingml/2006/main">
            <a:off x="981075" y="21336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HELD</a:t>
            </a:r>
          </a:p>
        </p:txBody>
      </p:sp>
      <p:sp>
        <p:nvSpPr>
          <p:cNvPr id="5" name="">
            <a:extLst xmlns:a="http://schemas.openxmlformats.org/drawingml/2006/main">
              <a:ext uri="{FF2B5EF4-FFF2-40B4-BE49-F238E27FC236}">
                <a16:creationId xmlns:a16="http://schemas.microsoft.com/office/drawing/2014/main" id="{5A7CBEF2-0D68-4041-B79A-764688C0EDDB}"/>
              </a:ext>
            </a:extLst>
          </p:cNvPr>
          <p:cNvSpPr>
            <a:spLocks xmlns:a="http://schemas.openxmlformats.org/drawingml/2006/main" noGrp="1"/>
          </p:cNvSpPr>
          <p:nvPr/>
        </p:nvSpPr>
        <p:spPr>
          <a:xfrm xmlns:a="http://schemas.openxmlformats.org/drawingml/2006/main">
            <a:off x="981075" y="2533650"/>
            <a:ext cx="2514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Giữ 10 phút</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Vé PENDING</a:t>
            </a:r>
          </a:p>
        </p:txBody>
      </p:sp>
      <p:sp>
        <p:nvSpPr>
          <p:cNvPr id="6" name="">
            <a:extLst xmlns:a="http://schemas.openxmlformats.org/drawingml/2006/main">
              <a:ext uri="{FF2B5EF4-FFF2-40B4-BE49-F238E27FC236}">
                <a16:creationId xmlns:a16="http://schemas.microsoft.com/office/drawing/2014/main" id="{DA61F553-B65D-4B4A-A057-CD7159FE1F48}"/>
              </a:ext>
            </a:extLst>
          </p:cNvPr>
          <p:cNvSpPr>
            <a:spLocks xmlns:a="http://schemas.openxmlformats.org/drawingml/2006/main" noGrp="1"/>
          </p:cNvSpPr>
          <p:nvPr/>
        </p:nvSpPr>
        <p:spPr>
          <a:xfrm xmlns:a="http://schemas.openxmlformats.org/drawingml/2006/main">
            <a:off x="4667250" y="1981200"/>
            <a:ext cx="2857500" cy="1571625"/>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7" name="">
            <a:extLst xmlns:a="http://schemas.openxmlformats.org/drawingml/2006/main">
              <a:ext uri="{FF2B5EF4-FFF2-40B4-BE49-F238E27FC236}">
                <a16:creationId xmlns:a16="http://schemas.microsoft.com/office/drawing/2014/main" id="{C0549B3C-82DA-4FCB-B84D-E0B2B1E2F61A}"/>
              </a:ext>
            </a:extLst>
          </p:cNvPr>
          <p:cNvSpPr>
            <a:spLocks xmlns:a="http://schemas.openxmlformats.org/drawingml/2006/main" noGrp="1"/>
          </p:cNvSpPr>
          <p:nvPr/>
        </p:nvSpPr>
        <p:spPr>
          <a:xfrm xmlns:a="http://schemas.openxmlformats.org/drawingml/2006/main">
            <a:off x="4838700" y="21336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CONFIRMED</a:t>
            </a:r>
          </a:p>
        </p:txBody>
      </p:sp>
      <p:sp>
        <p:nvSpPr>
          <p:cNvPr id="8" name="">
            <a:extLst xmlns:a="http://schemas.openxmlformats.org/drawingml/2006/main">
              <a:ext uri="{FF2B5EF4-FFF2-40B4-BE49-F238E27FC236}">
                <a16:creationId xmlns:a16="http://schemas.microsoft.com/office/drawing/2014/main" id="{B2E80CD1-840E-4076-B756-839ACAD3000F}"/>
              </a:ext>
            </a:extLst>
          </p:cNvPr>
          <p:cNvSpPr>
            <a:spLocks xmlns:a="http://schemas.openxmlformats.org/drawingml/2006/main" noGrp="1"/>
          </p:cNvSpPr>
          <p:nvPr/>
        </p:nvSpPr>
        <p:spPr>
          <a:xfrm xmlns:a="http://schemas.openxmlformats.org/drawingml/2006/main">
            <a:off x="4838700" y="2533650"/>
            <a:ext cx="2514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Payment SUCCESS</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Vé VALID</a:t>
            </a:r>
          </a:p>
        </p:txBody>
      </p:sp>
      <p:sp>
        <p:nvSpPr>
          <p:cNvPr id="9" name="">
            <a:extLst xmlns:a="http://schemas.openxmlformats.org/drawingml/2006/main">
              <a:ext uri="{FF2B5EF4-FFF2-40B4-BE49-F238E27FC236}">
                <a16:creationId xmlns:a16="http://schemas.microsoft.com/office/drawing/2014/main" id="{B9520882-FFE5-4DF9-9B78-4BB514BAFABC}"/>
              </a:ext>
            </a:extLst>
          </p:cNvPr>
          <p:cNvSpPr>
            <a:spLocks xmlns:a="http://schemas.openxmlformats.org/drawingml/2006/main" noGrp="1"/>
          </p:cNvSpPr>
          <p:nvPr/>
        </p:nvSpPr>
        <p:spPr>
          <a:xfrm xmlns:a="http://schemas.openxmlformats.org/drawingml/2006/main">
            <a:off x="8524875" y="1981200"/>
            <a:ext cx="2857500" cy="1571625"/>
          </a:xfrm>
          <a:prstGeom xmlns:a="http://schemas.openxmlformats.org/drawingml/2006/main" prst="rect">
            <a:avLst/>
          </a:prstGeom>
          <a:solidFill xmlns:a="http://schemas.openxmlformats.org/drawingml/2006/main">
            <a:srgbClr val="FFFFFF"/>
          </a:solidFill>
          <a:ln xmlns:a="http://schemas.openxmlformats.org/drawingml/2006/main" w="13335">
            <a:solidFill>
              <a:srgbClr val="C9DCD3"/>
            </a:solidFill>
          </a:ln>
        </p:spPr>
      </p:sp>
      <p:sp>
        <p:nvSpPr>
          <p:cNvPr id="10" name="">
            <a:extLst xmlns:a="http://schemas.openxmlformats.org/drawingml/2006/main">
              <a:ext uri="{FF2B5EF4-FFF2-40B4-BE49-F238E27FC236}">
                <a16:creationId xmlns:a16="http://schemas.microsoft.com/office/drawing/2014/main" id="{49EC042A-FC8E-4C43-AF9E-47490FAB34F8}"/>
              </a:ext>
            </a:extLst>
          </p:cNvPr>
          <p:cNvSpPr>
            <a:spLocks xmlns:a="http://schemas.openxmlformats.org/drawingml/2006/main" noGrp="1"/>
          </p:cNvSpPr>
          <p:nvPr/>
        </p:nvSpPr>
        <p:spPr>
          <a:xfrm xmlns:a="http://schemas.openxmlformats.org/drawingml/2006/main">
            <a:off x="8696325" y="21336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B7163"/>
                </a:solidFill>
                <a:latin typeface="Arial"/>
                <a:ea typeface="Arial"/>
                <a:cs typeface="Arial"/>
              </a:defRPr>
            </a:defPPr>
          </a:lstStyle>
          <a:p xmlns:a="http://schemas.openxmlformats.org/drawingml/2006/main">
            <a:pPr>
              <a:defRPr sz="1800" b="1">
                <a:solidFill>
                  <a:srgbClr val="0B7163"/>
                </a:solidFill>
                <a:latin typeface="Arial"/>
                <a:ea typeface="Arial"/>
                <a:cs typeface="Arial"/>
              </a:defRPr>
            </a:pPr>
            <a:r>
              <a:rPr sz="1800" b="1">
                <a:solidFill>
                  <a:srgbClr val="0B7163"/>
                </a:solidFill>
                <a:latin typeface="Arial"/>
                <a:ea typeface="Arial"/>
                <a:cs typeface="Arial"/>
              </a:rPr>
              <a:t>CANCELLED</a:t>
            </a:r>
          </a:p>
        </p:txBody>
      </p:sp>
      <p:sp>
        <p:nvSpPr>
          <p:cNvPr id="11" name="">
            <a:extLst xmlns:a="http://schemas.openxmlformats.org/drawingml/2006/main">
              <a:ext uri="{FF2B5EF4-FFF2-40B4-BE49-F238E27FC236}">
                <a16:creationId xmlns:a16="http://schemas.microsoft.com/office/drawing/2014/main" id="{FC677FC6-74DB-4933-AD83-AE3FBAD9C605}"/>
              </a:ext>
            </a:extLst>
          </p:cNvPr>
          <p:cNvSpPr>
            <a:spLocks xmlns:a="http://schemas.openxmlformats.org/drawingml/2006/main" noGrp="1"/>
          </p:cNvSpPr>
          <p:nvPr/>
        </p:nvSpPr>
        <p:spPr>
          <a:xfrm xmlns:a="http://schemas.openxmlformats.org/drawingml/2006/main">
            <a:off x="8696325" y="2533650"/>
            <a:ext cx="2514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83C35"/>
                </a:solidFill>
                <a:latin typeface="Arial"/>
                <a:ea typeface="Arial"/>
                <a:cs typeface="Arial"/>
              </a:defRPr>
            </a:defPPr>
          </a:lstStyle>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Vé VOID</a:t>
            </a:r>
          </a:p>
          <a:p xmlns:a="http://schemas.openxmlformats.org/drawingml/2006/main">
            <a:pPr>
              <a:defRPr sz="1425" b="0">
                <a:solidFill>
                  <a:srgbClr val="183C35"/>
                </a:solidFill>
                <a:latin typeface="Arial"/>
                <a:ea typeface="Arial"/>
                <a:cs typeface="Arial"/>
              </a:defRPr>
            </a:pPr>
            <a:r>
              <a:rPr sz="1425" b="0">
                <a:solidFill>
                  <a:srgbClr val="183C35"/>
                </a:solidFill>
                <a:latin typeface="Arial"/>
                <a:ea typeface="Arial"/>
                <a:cs typeface="Arial"/>
              </a:rPr>
              <a:t>Giải phóng ghế</a:t>
            </a:r>
          </a:p>
        </p:txBody>
      </p:sp>
      <p:sp>
        <p:nvSpPr>
          <p:cNvPr id="14" name="">
            <a:extLst xmlns:a="http://schemas.openxmlformats.org/drawingml/2006/main">
              <a:ext uri="{FF2B5EF4-FFF2-40B4-BE49-F238E27FC236}">
                <a16:creationId xmlns:a16="http://schemas.microsoft.com/office/drawing/2014/main" id="{B7018645-9775-451E-AA09-B14D56998F96}"/>
              </a:ext>
            </a:extLst>
          </p:cNvPr>
          <p:cNvSpPr>
            <a:spLocks xmlns:a="http://schemas.openxmlformats.org/drawingml/2006/main" noGrp="1"/>
          </p:cNvSpPr>
          <p:nvPr/>
        </p:nvSpPr>
        <p:spPr>
          <a:xfrm xmlns:a="http://schemas.openxmlformats.org/drawingml/2006/main">
            <a:off x="838200" y="420052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B7163"/>
                </a:solidFill>
                <a:latin typeface="Arial"/>
                <a:ea typeface="Arial"/>
                <a:cs typeface="Arial"/>
              </a:defRPr>
            </a:defPPr>
          </a:lstStyle>
          <a:p xmlns:a="http://schemas.openxmlformats.org/drawingml/2006/main">
            <a:pPr>
              <a:defRPr sz="2325" b="1">
                <a:solidFill>
                  <a:srgbClr val="0B7163"/>
                </a:solidFill>
                <a:latin typeface="Arial"/>
                <a:ea typeface="Arial"/>
                <a:cs typeface="Arial"/>
              </a:defRPr>
            </a:pPr>
            <a:r>
              <a:rPr sz="2325" b="1">
                <a:solidFill>
                  <a:srgbClr val="0B7163"/>
                </a:solidFill>
                <a:latin typeface="Arial"/>
                <a:ea typeface="Arial"/>
                <a:cs typeface="Arial"/>
              </a:rPr>
              <a:t>Idempotency key</a:t>
            </a:r>
          </a:p>
        </p:txBody>
      </p:sp>
      <p:sp>
        <p:nvSpPr>
          <p:cNvPr id="15" name="">
            <a:extLst xmlns:a="http://schemas.openxmlformats.org/drawingml/2006/main">
              <a:ext uri="{FF2B5EF4-FFF2-40B4-BE49-F238E27FC236}">
                <a16:creationId xmlns:a16="http://schemas.microsoft.com/office/drawing/2014/main" id="{20FBF1F1-BC0C-4E8E-86A7-11D28CA79853}"/>
              </a:ext>
            </a:extLst>
          </p:cNvPr>
          <p:cNvSpPr>
            <a:spLocks xmlns:a="http://schemas.openxmlformats.org/drawingml/2006/main" noGrp="1"/>
          </p:cNvSpPr>
          <p:nvPr/>
        </p:nvSpPr>
        <p:spPr>
          <a:xfrm xmlns:a="http://schemas.openxmlformats.org/drawingml/2006/main">
            <a:off x="4667250" y="42386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35"/>
                </a:solidFill>
                <a:latin typeface="Arial"/>
                <a:ea typeface="Arial"/>
                <a:cs typeface="Arial"/>
              </a:defRPr>
            </a:defPPr>
          </a:lstStyle>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Gửi lại cùng yêu cầu trả lại cùng giao dịch.</a:t>
            </a:r>
          </a:p>
          <a:p xmlns:a="http://schemas.openxmlformats.org/drawingml/2006/main">
            <a:pPr>
              <a:defRPr sz="2025" b="0">
                <a:solidFill>
                  <a:srgbClr val="183C35"/>
                </a:solidFill>
                <a:latin typeface="Arial"/>
                <a:ea typeface="Arial"/>
                <a:cs typeface="Arial"/>
              </a:defRPr>
            </a:pPr>
            <a:r>
              <a:rPr sz="2025" b="0">
                <a:solidFill>
                  <a:srgbClr val="183C35"/>
                </a:solidFill>
                <a:latin typeface="Arial"/>
                <a:ea typeface="Arial"/>
                <a:cs typeface="Arial"/>
              </a:rPr>
              <a:t>Key mới không tạo lần thu tiền thành công thứ hai.</a:t>
            </a:r>
          </a:p>
        </p:txBody>
      </p:sp>
      <p:sp>
        <p:nvSpPr>
          <p:cNvPr id="16" name="">
            <a:extLst xmlns:a="http://schemas.openxmlformats.org/drawingml/2006/main">
              <a:ext uri="{FF2B5EF4-FFF2-40B4-BE49-F238E27FC236}">
                <a16:creationId xmlns:a16="http://schemas.microsoft.com/office/drawing/2014/main" id="{E168C654-C8CE-43DA-B94C-293E51B21ADB}"/>
              </a:ext>
            </a:extLst>
          </p:cNvPr>
          <p:cNvSpPr>
            <a:spLocks xmlns:a="http://schemas.openxmlformats.org/drawingml/2006/main" noGrp="1"/>
          </p:cNvSpPr>
          <p:nvPr/>
        </p:nvSpPr>
        <p:spPr>
          <a:xfrm xmlns:a="http://schemas.openxmlformats.org/drawingml/2006/main">
            <a:off x="838200" y="5600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E746C"/>
                </a:solidFill>
                <a:latin typeface="Arial"/>
                <a:ea typeface="Arial"/>
                <a:cs typeface="Arial"/>
              </a:defRPr>
            </a:defPPr>
          </a:lstStyle>
          <a:p xmlns:a="http://schemas.openxmlformats.org/drawingml/2006/main">
            <a:pPr>
              <a:defRPr sz="1800" b="0">
                <a:solidFill>
                  <a:srgbClr val="5E746C"/>
                </a:solidFill>
                <a:latin typeface="Arial"/>
                <a:ea typeface="Arial"/>
                <a:cs typeface="Arial"/>
              </a:defRPr>
            </a:pPr>
            <a:r>
              <a:rPr sz="1800" b="0">
                <a:solidFill>
                  <a:srgbClr val="5E746C"/>
                </a:solidFill>
                <a:latin typeface="Arial"/>
                <a:ea typeface="Arial"/>
                <a:cs typeface="Arial"/>
              </a:rPr>
              <a:t>FAILED giữ booking đến deadline. Hết hạn chuyển EXPIRED.</a:t>
            </a:r>
          </a:p>
        </p:txBody>
      </p:sp>
    </p:spTree>
    <p:extLst>
      <p:ext uri="{BB962C8B-B14F-4D97-AF65-F5344CB8AC3E}">
        <p14:creationId xmlns:p14="http://schemas.microsoft.com/office/powerpoint/2010/main" val="1225420459"/>
      </p:ext>
    </p:extLst>
  </p:cSld>
</p:sld>
</file>

<file path=ppt/slides/slide9.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86D358-08A8-4613-8BC2-FB48A637FA67}"/>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Luồng khách hàng đã chạy trên trình duyệt</a:t>
            </a:r>
          </a:p>
        </p:txBody>
      </p:sp>
      <p:sp>
        <p:nvSpPr>
          <p:cNvPr id="2" name="">
            <a:extLst xmlns:a="http://schemas.openxmlformats.org/drawingml/2006/main">
              <a:ext uri="{FF2B5EF4-FFF2-40B4-BE49-F238E27FC236}">
                <a16:creationId xmlns:a16="http://schemas.microsoft.com/office/drawing/2014/main" id="{75AAC274-7250-4649-B8E7-255D2D2450C9}"/>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E62FE722-DA06-489C-A14F-A3F6F9E39BD1}"/>
              </a:ext>
            </a:extLst>
          </p:cNvPr>
          <p:cNvSpPr>
            <a:spLocks xmlns:a="http://schemas.openxmlformats.org/drawingml/2006/main" noGrp="1"/>
          </p:cNvSpPr>
          <p:nvPr/>
        </p:nvSpPr>
        <p:spPr>
          <a:xfrm xmlns:a="http://schemas.openxmlformats.org/drawingml/2006/main">
            <a:off x="762000" y="1819275"/>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B7163"/>
                </a:solidFill>
                <a:latin typeface="Arial"/>
                <a:ea typeface="Arial"/>
                <a:cs typeface="Arial"/>
              </a:defRPr>
            </a:defPPr>
          </a:lstStyle>
          <a:p xmlns:a="http://schemas.openxmlformats.org/drawingml/2006/main">
            <a:pPr>
              <a:defRPr sz="3225" b="1">
                <a:solidFill>
                  <a:srgbClr val="0B7163"/>
                </a:solidFill>
                <a:latin typeface="Arial"/>
                <a:ea typeface="Arial"/>
                <a:cs typeface="Arial"/>
              </a:defRPr>
            </a:pPr>
            <a:r>
              <a:rPr sz="3225" b="1">
                <a:solidFill>
                  <a:srgbClr val="0B7163"/>
                </a:solidFill>
                <a:latin typeface="Arial"/>
                <a:ea typeface="Arial"/>
                <a:cs typeface="Arial"/>
              </a:rPr>
              <a:t>HAN → SGN</a:t>
            </a:r>
          </a:p>
        </p:txBody>
      </p:sp>
      <p:sp>
        <p:nvSpPr>
          <p:cNvPr id="4" name="">
            <a:extLst xmlns:a="http://schemas.openxmlformats.org/drawingml/2006/main">
              <a:ext uri="{FF2B5EF4-FFF2-40B4-BE49-F238E27FC236}">
                <a16:creationId xmlns:a16="http://schemas.microsoft.com/office/drawing/2014/main" id="{440A6483-4FDB-46E7-853B-60A1125B1128}"/>
              </a:ext>
            </a:extLst>
          </p:cNvPr>
          <p:cNvSpPr>
            <a:spLocks xmlns:a="http://schemas.openxmlformats.org/drawingml/2006/main" noGrp="1"/>
          </p:cNvSpPr>
          <p:nvPr/>
        </p:nvSpPr>
        <p:spPr>
          <a:xfrm xmlns:a="http://schemas.openxmlformats.org/drawingml/2006/main">
            <a:off x="800100" y="2743200"/>
            <a:ext cx="638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83C35"/>
                </a:solidFill>
                <a:latin typeface="Arial"/>
                <a:ea typeface="Arial"/>
                <a:cs typeface="Arial"/>
              </a:defRPr>
            </a:defPPr>
          </a:lstStyle>
          <a:p xmlns:a="http://schemas.openxmlformats.org/drawingml/2006/main">
            <a:pPr>
              <a:defRPr sz="2250" b="0">
                <a:solidFill>
                  <a:srgbClr val="183C35"/>
                </a:solidFill>
                <a:latin typeface="Arial"/>
                <a:ea typeface="Arial"/>
                <a:cs typeface="Arial"/>
              </a:defRPr>
            </a:pPr>
            <a:r>
              <a:rPr sz="2250" b="0">
                <a:solidFill>
                  <a:srgbClr val="183C35"/>
                </a:solidFill>
                <a:latin typeface="Arial"/>
                <a:ea typeface="Arial"/>
                <a:cs typeface="Arial"/>
              </a:rPr>
              <a:t>Ghế A1, hạng FLEX</a:t>
            </a:r>
          </a:p>
          <a:p xmlns:a="http://schemas.openxmlformats.org/drawingml/2006/main">
            <a:pPr>
              <a:defRPr sz="2250" b="0">
                <a:solidFill>
                  <a:srgbClr val="183C35"/>
                </a:solidFill>
                <a:latin typeface="Arial"/>
                <a:ea typeface="Arial"/>
                <a:cs typeface="Arial"/>
              </a:defRPr>
            </a:pPr>
            <a:r>
              <a:rPr sz="2250" b="0">
                <a:solidFill>
                  <a:srgbClr val="183C35"/>
                </a:solidFill>
                <a:latin typeface="Arial"/>
                <a:ea typeface="Arial"/>
                <a:cs typeface="Arial"/>
              </a:rPr>
              <a:t>PNR 02C06863</a:t>
            </a:r>
          </a:p>
          <a:p xmlns:a="http://schemas.openxmlformats.org/drawingml/2006/main">
            <a:pPr>
              <a:defRPr sz="2250" b="0">
                <a:solidFill>
                  <a:srgbClr val="183C35"/>
                </a:solidFill>
                <a:latin typeface="Arial"/>
                <a:ea typeface="Arial"/>
                <a:cs typeface="Arial"/>
              </a:defRPr>
            </a:pPr>
            <a:r>
              <a:rPr sz="2250" b="0">
                <a:solidFill>
                  <a:srgbClr val="183C35"/>
                </a:solidFill>
                <a:latin typeface="Arial"/>
                <a:ea typeface="Arial"/>
                <a:cs typeface="Arial"/>
              </a:rPr>
              <a:t>Giá vé 1.595.000 VND</a:t>
            </a:r>
          </a:p>
        </p:txBody>
      </p:sp>
      <p:sp>
        <p:nvSpPr>
          <p:cNvPr id="5" name="">
            <a:extLst xmlns:a="http://schemas.openxmlformats.org/drawingml/2006/main">
              <a:ext uri="{FF2B5EF4-FFF2-40B4-BE49-F238E27FC236}">
                <a16:creationId xmlns:a16="http://schemas.microsoft.com/office/drawing/2014/main" id="{599D9901-1525-478F-B6C3-40455D77E4A0}"/>
              </a:ext>
            </a:extLst>
          </p:cNvPr>
          <p:cNvSpPr>
            <a:spLocks xmlns:a="http://schemas.openxmlformats.org/drawingml/2006/main" noGrp="1"/>
          </p:cNvSpPr>
          <p:nvPr/>
        </p:nvSpPr>
        <p:spPr>
          <a:xfrm xmlns:a="http://schemas.openxmlformats.org/drawingml/2006/main">
            <a:off x="800100" y="4667250"/>
            <a:ext cx="609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3C35"/>
                </a:solidFill>
                <a:latin typeface="Arial"/>
                <a:ea typeface="Arial"/>
                <a:cs typeface="Arial"/>
              </a:defRPr>
            </a:defPPr>
          </a:lstStyle>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Thanh toán mô phỏng thành công.</a:t>
            </a:r>
          </a:p>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Vé hiển thị thông tin từ SQL Server.</a:t>
            </a:r>
          </a:p>
        </p:txBody>
      </p:sp>
      <p:pic>
        <p:nvPicPr>
          <p:cNvPr id="6" name="">
            <a:extLst xmlns:a="http://schemas.openxmlformats.org/drawingml/2006/main">
              <a:ext uri="{FF2B5EF4-FFF2-40B4-BE49-F238E27FC236}">
                <a16:creationId xmlns:a16="http://schemas.microsoft.com/office/drawing/2014/main" id="{DF5D6DE9-A8A5-44C1-A215-C8085B221779}"/>
              </a:ext>
            </a:extLst>
          </p:cNvPr>
          <p:cNvPicPr>
            <a:picLocks xmlns:a="http://schemas.openxmlformats.org/drawingml/2006/main" noChangeAspect="1"/>
          </p:cNvPicPr>
          <p:nvPr/>
        </p:nvPicPr>
        <p:blipFill>
          <a:blip xmlns:r="http://schemas.openxmlformats.org/officeDocument/2006/relationships" xmlns:a="http://schemas.openxmlformats.org/drawingml/2006/main" r:embed="Rd924a2db77b949d1"/>
          <a:stretch xmlns:a="http://schemas.openxmlformats.org/drawingml/2006/main"/>
        </p:blipFill>
        <p:spPr>
          <a:xfrm xmlns:a="http://schemas.openxmlformats.org/drawingml/2006/main">
            <a:off x="8757647" y="1447800"/>
            <a:ext cx="1153706" cy="4762500"/>
          </a:xfrm>
          <a:prstGeom xmlns:a="http://schemas.openxmlformats.org/drawingml/2006/main" prst="rect">
            <a:avLst/>
          </a:prstGeom>
        </p:spPr>
      </p:pic>
    </p:spTree>
    <p:extLst>
      <p:ext uri="{BB962C8B-B14F-4D97-AF65-F5344CB8AC3E}">
        <p14:creationId xmlns:p14="http://schemas.microsoft.com/office/powerpoint/2010/main" val="1396185137"/>
      </p:ext>
    </p:extLst>
  </p:cSld>
</p:sld>
</file>

<file path=ppt/slides/slide10.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2720B7-6902-46B9-8622-BDFEEDD01FD4}"/>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Báo cáo doanh thu từ view SQL Server</a:t>
            </a:r>
          </a:p>
        </p:txBody>
      </p:sp>
      <p:sp>
        <p:nvSpPr>
          <p:cNvPr id="2" name="">
            <a:extLst xmlns:a="http://schemas.openxmlformats.org/drawingml/2006/main">
              <a:ext uri="{FF2B5EF4-FFF2-40B4-BE49-F238E27FC236}">
                <a16:creationId xmlns:a16="http://schemas.microsoft.com/office/drawing/2014/main" id="{61890E81-90CB-44C8-A167-7BFCF22B7998}"/>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259618B8-4311-4875-B682-2E95AA127DFD}"/>
              </a:ext>
            </a:extLst>
          </p:cNvPr>
          <p:cNvGraphicFramePr/>
          <p:nvPr/>
        </p:nvGraphicFramePr>
        <p:xfrm>
          <a:off xmlns:a="http://schemas.openxmlformats.org/drawingml/2006/main" x="857250" y="1952625"/>
          <a:ext xmlns:a="http://schemas.openxmlformats.org/drawingml/2006/main" cx="10382250" cy="3476625"/>
        </p:xfrm>
        <a:graphic xmlns:a="http://schemas.openxmlformats.org/drawingml/2006/main">
          <a:graphicData uri="http://schemas.openxmlformats.org/drawingml/2006/chart">
            <c:chart xmlns:r="http://schemas.openxmlformats.org/officeDocument/2006/relationships" xmlns:c="http://schemas.openxmlformats.org/drawingml/2006/chart" r:id="R90ed934476f140b8"/>
          </a:graphicData>
        </a:graphic>
      </p:graphicFrame>
      <p:sp>
        <p:nvSpPr>
          <p:cNvPr id="4" name="">
            <a:extLst xmlns:a="http://schemas.openxmlformats.org/drawingml/2006/main">
              <a:ext uri="{FF2B5EF4-FFF2-40B4-BE49-F238E27FC236}">
                <a16:creationId xmlns:a16="http://schemas.microsoft.com/office/drawing/2014/main" id="{4A76AF67-17D9-461C-9F33-B34E14013689}"/>
              </a:ext>
            </a:extLst>
          </p:cNvPr>
          <p:cNvSpPr>
            <a:spLocks xmlns:a="http://schemas.openxmlformats.org/drawingml/2006/main" noGrp="1"/>
          </p:cNvSpPr>
          <p:nvPr/>
        </p:nvSpPr>
        <p:spPr>
          <a:xfrm xmlns:a="http://schemas.openxmlformats.org/drawingml/2006/main">
            <a:off x="857250" y="57435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E746C"/>
                </a:solidFill>
                <a:latin typeface="Arial"/>
                <a:ea typeface="Arial"/>
                <a:cs typeface="Arial"/>
              </a:defRPr>
            </a:defPPr>
          </a:lstStyle>
          <a:p xmlns:a="http://schemas.openxmlformats.org/drawingml/2006/main">
            <a:pPr>
              <a:defRPr sz="1575" b="0">
                <a:solidFill>
                  <a:srgbClr val="5E746C"/>
                </a:solidFill>
                <a:latin typeface="Arial"/>
                <a:ea typeface="Arial"/>
                <a:cs typeface="Arial"/>
              </a:defRPr>
            </a:pPr>
            <a:r>
              <a:rPr sz="1575" b="0">
                <a:solidFill>
                  <a:srgbClr val="5E746C"/>
                </a:solidFill>
                <a:latin typeface="Arial"/>
                <a:ea typeface="Arial"/>
                <a:cs typeface="Arial"/>
              </a:rPr>
              <a:t>Dữ liệu mô phỏng trong DB, cập nhật sau lần kiểm tra UI ngày 12/10/2026.</a:t>
            </a:r>
          </a:p>
        </p:txBody>
      </p:sp>
    </p:spTree>
    <p:extLst>
      <p:ext uri="{BB962C8B-B14F-4D97-AF65-F5344CB8AC3E}">
        <p14:creationId xmlns:p14="http://schemas.microsoft.com/office/powerpoint/2010/main" val="2119316679"/>
      </p:ext>
    </p:extLst>
  </p:cSld>
</p:sld>
</file>

<file path=ppt/slides/slide11.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3A1F7C-EC2C-406B-8DDC-ABB36CAF1A0D}"/>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Bằng chứng kiểm thử</a:t>
            </a:r>
          </a:p>
        </p:txBody>
      </p:sp>
      <p:sp>
        <p:nvSpPr>
          <p:cNvPr id="2" name="">
            <a:extLst xmlns:a="http://schemas.openxmlformats.org/drawingml/2006/main">
              <a:ext uri="{FF2B5EF4-FFF2-40B4-BE49-F238E27FC236}">
                <a16:creationId xmlns:a16="http://schemas.microsoft.com/office/drawing/2014/main" id="{486A21B0-EF8B-4F82-9416-4183B1B3905D}"/>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9BD5AED0-9CF3-440C-97DD-6C897F3C8E8A}"/>
              </a:ext>
            </a:extLst>
          </p:cNvPr>
          <p:cNvSpPr>
            <a:spLocks xmlns:a="http://schemas.openxmlformats.org/drawingml/2006/main" noGrp="1"/>
          </p:cNvSpPr>
          <p:nvPr/>
        </p:nvSpPr>
        <p:spPr>
          <a:xfrm xmlns:a="http://schemas.openxmlformats.org/drawingml/2006/main">
            <a:off x="762000" y="1685925"/>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75" b="1">
                <a:solidFill>
                  <a:srgbClr val="0B7163"/>
                </a:solidFill>
                <a:latin typeface="Arial"/>
                <a:ea typeface="Arial"/>
                <a:cs typeface="Arial"/>
              </a:defRPr>
            </a:defPPr>
          </a:lstStyle>
          <a:p xmlns:a="http://schemas.openxmlformats.org/drawingml/2006/main">
            <a:pPr>
              <a:defRPr sz="5475" b="1">
                <a:solidFill>
                  <a:srgbClr val="0B7163"/>
                </a:solidFill>
                <a:latin typeface="Arial"/>
                <a:ea typeface="Arial"/>
                <a:cs typeface="Arial"/>
              </a:defRPr>
            </a:pPr>
            <a:r>
              <a:rPr sz="5475" b="1">
                <a:solidFill>
                  <a:srgbClr val="0B7163"/>
                </a:solidFill>
                <a:latin typeface="Arial"/>
                <a:ea typeface="Arial"/>
                <a:cs typeface="Arial"/>
              </a:rPr>
              <a:t>39 / 39</a:t>
            </a:r>
          </a:p>
        </p:txBody>
      </p:sp>
      <p:sp>
        <p:nvSpPr>
          <p:cNvPr id="4" name="">
            <a:extLst xmlns:a="http://schemas.openxmlformats.org/drawingml/2006/main">
              <a:ext uri="{FF2B5EF4-FFF2-40B4-BE49-F238E27FC236}">
                <a16:creationId xmlns:a16="http://schemas.microsoft.com/office/drawing/2014/main" id="{9F9E26CC-3BDD-4DB6-8251-EACEF5AB8593}"/>
              </a:ext>
            </a:extLst>
          </p:cNvPr>
          <p:cNvSpPr>
            <a:spLocks xmlns:a="http://schemas.openxmlformats.org/drawingml/2006/main" noGrp="1"/>
          </p:cNvSpPr>
          <p:nvPr/>
        </p:nvSpPr>
        <p:spPr>
          <a:xfrm xmlns:a="http://schemas.openxmlformats.org/drawingml/2006/main">
            <a:off x="809625" y="2800350"/>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183C35"/>
                </a:solidFill>
                <a:latin typeface="Arial"/>
                <a:ea typeface="Arial"/>
                <a:cs typeface="Arial"/>
              </a:defRPr>
            </a:defPPr>
          </a:lstStyle>
          <a:p xmlns:a="http://schemas.openxmlformats.org/drawingml/2006/main">
            <a:pPr>
              <a:defRPr sz="2475" b="0">
                <a:solidFill>
                  <a:srgbClr val="183C35"/>
                </a:solidFill>
                <a:latin typeface="Arial"/>
                <a:ea typeface="Arial"/>
                <a:cs typeface="Arial"/>
              </a:defRPr>
            </a:pPr>
            <a:r>
              <a:rPr sz="2475" b="0">
                <a:solidFill>
                  <a:srgbClr val="183C35"/>
                </a:solidFill>
                <a:latin typeface="Arial"/>
                <a:ea typeface="Arial"/>
                <a:cs typeface="Arial"/>
              </a:rPr>
              <a:t>bài kiểm thử đạt</a:t>
            </a:r>
          </a:p>
        </p:txBody>
      </p:sp>
      <p:sp>
        <p:nvSpPr>
          <p:cNvPr id="5" name="">
            <a:extLst xmlns:a="http://schemas.openxmlformats.org/drawingml/2006/main">
              <a:ext uri="{FF2B5EF4-FFF2-40B4-BE49-F238E27FC236}">
                <a16:creationId xmlns:a16="http://schemas.microsoft.com/office/drawing/2014/main" id="{C117AA99-9190-4261-B34E-200BF882E5E1}"/>
              </a:ext>
            </a:extLst>
          </p:cNvPr>
          <p:cNvSpPr>
            <a:spLocks xmlns:a="http://schemas.openxmlformats.org/drawingml/2006/main" noGrp="1"/>
          </p:cNvSpPr>
          <p:nvPr/>
        </p:nvSpPr>
        <p:spPr>
          <a:xfrm xmlns:a="http://schemas.openxmlformats.org/drawingml/2006/main">
            <a:off x="6286500" y="1724025"/>
            <a:ext cx="5143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3C35"/>
                </a:solidFill>
                <a:latin typeface="Arial"/>
                <a:ea typeface="Arial"/>
                <a:cs typeface="Arial"/>
              </a:defRPr>
            </a:defPPr>
          </a:lstStyle>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SQL Server 2022 Express thật</a:t>
            </a:r>
          </a:p>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Hai khách tranh một ghế</a:t>
            </a:r>
          </a:p>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Payment đồng thời và tranh với hủy</a:t>
            </a:r>
          </a:p>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Rollback sau lỗi giữa transaction</a:t>
            </a:r>
          </a:p>
          <a:p xmlns:a="http://schemas.openxmlformats.org/drawingml/2006/main">
            <a:pPr>
              <a:defRPr sz="2100" b="0">
                <a:solidFill>
                  <a:srgbClr val="183C35"/>
                </a:solidFill>
                <a:latin typeface="Arial"/>
                <a:ea typeface="Arial"/>
                <a:cs typeface="Arial"/>
              </a:defRPr>
            </a:pPr>
            <a:r>
              <a:rPr sz="2100" b="0">
                <a:solidFill>
                  <a:srgbClr val="183C35"/>
                </a:solidFill>
                <a:latin typeface="Arial"/>
                <a:ea typeface="Arial"/>
                <a:cs typeface="Arial"/>
              </a:rPr>
              <a:t>CSRF, SQL Injection và quyền sở hữu</a:t>
            </a:r>
          </a:p>
        </p:txBody>
      </p:sp>
      <p:sp>
        <p:nvSpPr>
          <p:cNvPr id="6" name="">
            <a:extLst xmlns:a="http://schemas.openxmlformats.org/drawingml/2006/main">
              <a:ext uri="{FF2B5EF4-FFF2-40B4-BE49-F238E27FC236}">
                <a16:creationId xmlns:a16="http://schemas.microsoft.com/office/drawing/2014/main" id="{F7C50AD2-F1CA-43C1-AB9B-AD9A47F26EFF}"/>
              </a:ext>
            </a:extLst>
          </p:cNvPr>
          <p:cNvSpPr>
            <a:spLocks xmlns:a="http://schemas.openxmlformats.org/drawingml/2006/main" noGrp="1"/>
          </p:cNvSpPr>
          <p:nvPr/>
        </p:nvSpPr>
        <p:spPr>
          <a:xfrm xmlns:a="http://schemas.openxmlformats.org/drawingml/2006/main">
            <a:off x="762000" y="5181600"/>
            <a:ext cx="10668000" cy="0"/>
          </a:xfrm>
          <a:prstGeom xmlns:a="http://schemas.openxmlformats.org/drawingml/2006/main" prst="line">
            <a:avLst/>
          </a:prstGeom>
          <a:ln xmlns:a="http://schemas.openxmlformats.org/drawingml/2006/main" w="14288">
            <a:solidFill>
              <a:srgbClr val="C9DCD3"/>
            </a:solidFill>
          </a:ln>
        </p:spPr>
      </p:sp>
      <p:sp>
        <p:nvSpPr>
          <p:cNvPr id="7" name="">
            <a:extLst xmlns:a="http://schemas.openxmlformats.org/drawingml/2006/main">
              <a:ext uri="{FF2B5EF4-FFF2-40B4-BE49-F238E27FC236}">
                <a16:creationId xmlns:a16="http://schemas.microsoft.com/office/drawing/2014/main" id="{1CD2DC2B-5EF9-48F4-B8E5-EB250A3C6338}"/>
              </a:ext>
            </a:extLst>
          </p:cNvPr>
          <p:cNvSpPr>
            <a:spLocks xmlns:a="http://schemas.openxmlformats.org/drawingml/2006/main" noGrp="1"/>
          </p:cNvSpPr>
          <p:nvPr/>
        </p:nvSpPr>
        <p:spPr>
          <a:xfrm xmlns:a="http://schemas.openxmlformats.org/drawingml/2006/main">
            <a:off x="800100" y="55054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E746C"/>
                </a:solidFill>
                <a:latin typeface="Arial"/>
                <a:ea typeface="Arial"/>
                <a:cs typeface="Arial"/>
              </a:defRPr>
            </a:defPPr>
          </a:lstStyle>
          <a:p xmlns:a="http://schemas.openxmlformats.org/drawingml/2006/main">
            <a:pPr>
              <a:defRPr sz="1725" b="0">
                <a:solidFill>
                  <a:srgbClr val="5E746C"/>
                </a:solidFill>
                <a:latin typeface="Arial"/>
                <a:ea typeface="Arial"/>
                <a:cs typeface="Arial"/>
              </a:defRPr>
            </a:pPr>
            <a:r>
              <a:rPr sz="1725" b="0">
                <a:solidFill>
                  <a:srgbClr val="5E746C"/>
                </a:solidFill>
                <a:latin typeface="Arial"/>
                <a:ea typeface="Arial"/>
                <a:cs typeface="Arial"/>
              </a:rPr>
              <a:t>Chưa kiểm thử tải lớn hoặc bảo mật production.</a:t>
            </a:r>
          </a:p>
          <a:p xmlns:a="http://schemas.openxmlformats.org/drawingml/2006/main">
            <a:pPr>
              <a:defRPr sz="1725" b="0">
                <a:solidFill>
                  <a:srgbClr val="5E746C"/>
                </a:solidFill>
                <a:latin typeface="Arial"/>
                <a:ea typeface="Arial"/>
                <a:cs typeface="Arial"/>
              </a:defRPr>
            </a:pPr>
            <a:r>
              <a:rPr sz="1725" b="0">
                <a:solidFill>
                  <a:srgbClr val="5E746C"/>
                </a:solidFill>
                <a:latin typeface="Arial"/>
                <a:ea typeface="Arial"/>
                <a:cs typeface="Arial"/>
              </a:rPr>
              <a:t>UI quản trị cần người nhận kiểm tra thêm bằng tài khoản tự tạo.</a:t>
            </a:r>
          </a:p>
        </p:txBody>
      </p:sp>
    </p:spTree>
    <p:extLst>
      <p:ext uri="{BB962C8B-B14F-4D97-AF65-F5344CB8AC3E}">
        <p14:creationId xmlns:p14="http://schemas.microsoft.com/office/powerpoint/2010/main" val="1800627339"/>
      </p:ext>
    </p:extLst>
  </p:cSld>
</p:sld>
</file>

<file path=ppt/slides/slide12.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A14E1D-B747-4433-916F-C9383624CD55}"/>
              </a:ext>
            </a:extLst>
          </p:cNvPr>
          <p:cNvSpPr>
            <a:spLocks xmlns:a="http://schemas.openxmlformats.org/drawingml/2006/main" noGrp="1"/>
          </p:cNvSpPr>
          <p:nvPr/>
        </p:nvSpPr>
        <p:spPr>
          <a:xfrm xmlns:a="http://schemas.openxmlformats.org/drawingml/2006/main">
            <a:off x="666750" y="4953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83C35"/>
                </a:solidFill>
                <a:latin typeface="Arial"/>
                <a:ea typeface="Arial"/>
                <a:cs typeface="Arial"/>
              </a:defRPr>
            </a:defPPr>
          </a:lstStyle>
          <a:p xmlns:a="http://schemas.openxmlformats.org/drawingml/2006/main">
            <a:pPr>
              <a:defRPr sz="3150" b="1">
                <a:solidFill>
                  <a:srgbClr val="183C35"/>
                </a:solidFill>
                <a:latin typeface="Arial"/>
                <a:ea typeface="Arial"/>
                <a:cs typeface="Arial"/>
              </a:defRPr>
            </a:pPr>
            <a:r>
              <a:rPr sz="3150" b="1">
                <a:solidFill>
                  <a:srgbClr val="183C35"/>
                </a:solidFill>
                <a:latin typeface="Arial"/>
                <a:ea typeface="Arial"/>
                <a:cs typeface="Arial"/>
              </a:rPr>
              <a:t>Chạy dự án và trình diễn với SSMS</a:t>
            </a:r>
          </a:p>
        </p:txBody>
      </p:sp>
      <p:sp>
        <p:nvSpPr>
          <p:cNvPr id="2" name="">
            <a:extLst xmlns:a="http://schemas.openxmlformats.org/drawingml/2006/main">
              <a:ext uri="{FF2B5EF4-FFF2-40B4-BE49-F238E27FC236}">
                <a16:creationId xmlns:a16="http://schemas.microsoft.com/office/drawing/2014/main" id="{7ED0AE59-AC00-47F1-ABC4-ECD5FA2B3E39}"/>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E746C"/>
                </a:solidFill>
                <a:latin typeface="Arial"/>
                <a:ea typeface="Arial"/>
                <a:cs typeface="Arial"/>
              </a:defRPr>
            </a:defPPr>
          </a:lstStyle>
          <a:p xmlns:a="http://schemas.openxmlformats.org/drawingml/2006/main">
            <a:pPr>
              <a:defRPr sz="1200" b="0">
                <a:solidFill>
                  <a:srgbClr val="5E746C"/>
                </a:solidFill>
                <a:latin typeface="Arial"/>
                <a:ea typeface="Arial"/>
                <a:cs typeface="Arial"/>
              </a:defRPr>
            </a:pPr>
            <a:r>
              <a:rPr sz="1200" b="0">
                <a:solidFill>
                  <a:srgbClr val="5E746C"/>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44A6F3B3-366E-4F5E-B624-829D9CC7FE64}"/>
              </a:ext>
            </a:extLst>
          </p:cNvPr>
          <p:cNvSpPr>
            <a:spLocks xmlns:a="http://schemas.openxmlformats.org/drawingml/2006/main" noGrp="1"/>
          </p:cNvSpPr>
          <p:nvPr/>
        </p:nvSpPr>
        <p:spPr>
          <a:xfrm xmlns:a="http://schemas.openxmlformats.org/drawingml/2006/main">
            <a:off x="762000" y="1704975"/>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B7163"/>
                </a:solidFill>
                <a:latin typeface="Arial"/>
                <a:ea typeface="Arial"/>
                <a:cs typeface="Arial"/>
              </a:defRPr>
            </a:defPPr>
          </a:lstStyle>
          <a:p xmlns:a="http://schemas.openxmlformats.org/drawingml/2006/main">
            <a:pPr>
              <a:defRPr sz="2550" b="1">
                <a:solidFill>
                  <a:srgbClr val="0B7163"/>
                </a:solidFill>
                <a:latin typeface="Arial"/>
                <a:ea typeface="Arial"/>
                <a:cs typeface="Arial"/>
              </a:defRPr>
            </a:pPr>
            <a:r>
              <a:rPr sz="2550" b="1">
                <a:solidFill>
                  <a:srgbClr val="0B7163"/>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02584A1-3BE9-4D39-9136-AB4A33A6BC45}"/>
              </a:ext>
            </a:extLst>
          </p:cNvPr>
          <p:cNvSpPr>
            <a:spLocks xmlns:a="http://schemas.openxmlformats.org/drawingml/2006/main" noGrp="1"/>
          </p:cNvSpPr>
          <p:nvPr/>
        </p:nvSpPr>
        <p:spPr>
          <a:xfrm xmlns:a="http://schemas.openxmlformats.org/drawingml/2006/main">
            <a:off x="2238375" y="1733550"/>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35"/>
                </a:solidFill>
                <a:latin typeface="Arial"/>
                <a:ea typeface="Arial"/>
                <a:cs typeface="Arial"/>
              </a:defRPr>
            </a:defPPr>
          </a:lstStyle>
          <a:p xmlns:a="http://schemas.openxmlformats.org/drawingml/2006/main">
            <a:pPr>
              <a:defRPr sz="2175" b="0">
                <a:solidFill>
                  <a:srgbClr val="183C35"/>
                </a:solidFill>
                <a:latin typeface="Arial"/>
                <a:ea typeface="Arial"/>
                <a:cs typeface="Arial"/>
              </a:defRPr>
            </a:pPr>
            <a:r>
              <a:rPr sz="2175" b="0">
                <a:solidFill>
                  <a:srgbClr val="183C35"/>
                </a:solidFill>
                <a:latin typeface="Arial"/>
                <a:ea typeface="Arial"/>
                <a:cs typeface="Arial"/>
              </a:rPr>
              <a:t>Cấu hình .env và khởi tạo SQL Server</a:t>
            </a:r>
          </a:p>
        </p:txBody>
      </p:sp>
      <p:sp>
        <p:nvSpPr>
          <p:cNvPr id="5" name="">
            <a:extLst xmlns:a="http://schemas.openxmlformats.org/drawingml/2006/main">
              <a:ext uri="{FF2B5EF4-FFF2-40B4-BE49-F238E27FC236}">
                <a16:creationId xmlns:a16="http://schemas.microsoft.com/office/drawing/2014/main" id="{CA2945E6-8FA6-40A6-98EA-D0279659E3C3}"/>
              </a:ext>
            </a:extLst>
          </p:cNvPr>
          <p:cNvSpPr>
            <a:spLocks xmlns:a="http://schemas.openxmlformats.org/drawingml/2006/main" noGrp="1"/>
          </p:cNvSpPr>
          <p:nvPr/>
        </p:nvSpPr>
        <p:spPr>
          <a:xfrm xmlns:a="http://schemas.openxmlformats.org/drawingml/2006/main">
            <a:off x="762000" y="2657475"/>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B7163"/>
                </a:solidFill>
                <a:latin typeface="Arial"/>
                <a:ea typeface="Arial"/>
                <a:cs typeface="Arial"/>
              </a:defRPr>
            </a:defPPr>
          </a:lstStyle>
          <a:p xmlns:a="http://schemas.openxmlformats.org/drawingml/2006/main">
            <a:pPr>
              <a:defRPr sz="2550" b="1">
                <a:solidFill>
                  <a:srgbClr val="0B7163"/>
                </a:solidFill>
                <a:latin typeface="Arial"/>
                <a:ea typeface="Arial"/>
                <a:cs typeface="Arial"/>
              </a:defRPr>
            </a:pPr>
            <a:r>
              <a:rPr sz="2550" b="1">
                <a:solidFill>
                  <a:srgbClr val="0B7163"/>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50C5C565-3103-49F6-8AE8-F773432E49B0}"/>
              </a:ext>
            </a:extLst>
          </p:cNvPr>
          <p:cNvSpPr>
            <a:spLocks xmlns:a="http://schemas.openxmlformats.org/drawingml/2006/main" noGrp="1"/>
          </p:cNvSpPr>
          <p:nvPr/>
        </p:nvSpPr>
        <p:spPr>
          <a:xfrm xmlns:a="http://schemas.openxmlformats.org/drawingml/2006/main">
            <a:off x="2238375" y="2686050"/>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35"/>
                </a:solidFill>
                <a:latin typeface="Arial"/>
                <a:ea typeface="Arial"/>
                <a:cs typeface="Arial"/>
              </a:defRPr>
            </a:defPPr>
          </a:lstStyle>
          <a:p xmlns:a="http://schemas.openxmlformats.org/drawingml/2006/main">
            <a:pPr>
              <a:defRPr sz="2175" b="0">
                <a:solidFill>
                  <a:srgbClr val="183C35"/>
                </a:solidFill>
                <a:latin typeface="Arial"/>
                <a:ea typeface="Arial"/>
                <a:cs typeface="Arial"/>
              </a:defRPr>
            </a:pPr>
            <a:r>
              <a:rPr sz="2175" b="0">
                <a:solidFill>
                  <a:srgbClr val="183C35"/>
                </a:solidFill>
                <a:latin typeface="Arial"/>
                <a:ea typeface="Arial"/>
                <a:cs typeface="Arial"/>
              </a:rPr>
              <a:t>Tự tạo tài khoản quản trị, mở localhost:5000</a:t>
            </a:r>
          </a:p>
        </p:txBody>
      </p:sp>
      <p:sp>
        <p:nvSpPr>
          <p:cNvPr id="7" name="">
            <a:extLst xmlns:a="http://schemas.openxmlformats.org/drawingml/2006/main">
              <a:ext uri="{FF2B5EF4-FFF2-40B4-BE49-F238E27FC236}">
                <a16:creationId xmlns:a16="http://schemas.microsoft.com/office/drawing/2014/main" id="{D61B1B62-4D7B-491E-B789-516D873373D2}"/>
              </a:ext>
            </a:extLst>
          </p:cNvPr>
          <p:cNvSpPr>
            <a:spLocks xmlns:a="http://schemas.openxmlformats.org/drawingml/2006/main" noGrp="1"/>
          </p:cNvSpPr>
          <p:nvPr/>
        </p:nvSpPr>
        <p:spPr>
          <a:xfrm xmlns:a="http://schemas.openxmlformats.org/drawingml/2006/main">
            <a:off x="762000" y="3609975"/>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B7163"/>
                </a:solidFill>
                <a:latin typeface="Arial"/>
                <a:ea typeface="Arial"/>
                <a:cs typeface="Arial"/>
              </a:defRPr>
            </a:defPPr>
          </a:lstStyle>
          <a:p xmlns:a="http://schemas.openxmlformats.org/drawingml/2006/main">
            <a:pPr>
              <a:defRPr sz="2550" b="1">
                <a:solidFill>
                  <a:srgbClr val="0B7163"/>
                </a:solidFill>
                <a:latin typeface="Arial"/>
                <a:ea typeface="Arial"/>
                <a:cs typeface="Arial"/>
              </a:defRPr>
            </a:pPr>
            <a:r>
              <a:rPr sz="2550" b="1">
                <a:solidFill>
                  <a:srgbClr val="0B7163"/>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703C537-91FD-43F5-8ABF-F114DFCD8A57}"/>
              </a:ext>
            </a:extLst>
          </p:cNvPr>
          <p:cNvSpPr>
            <a:spLocks xmlns:a="http://schemas.openxmlformats.org/drawingml/2006/main" noGrp="1"/>
          </p:cNvSpPr>
          <p:nvPr/>
        </p:nvSpPr>
        <p:spPr>
          <a:xfrm xmlns:a="http://schemas.openxmlformats.org/drawingml/2006/main">
            <a:off x="2238375" y="3638550"/>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35"/>
                </a:solidFill>
                <a:latin typeface="Arial"/>
                <a:ea typeface="Arial"/>
                <a:cs typeface="Arial"/>
              </a:defRPr>
            </a:defPPr>
          </a:lstStyle>
          <a:p xmlns:a="http://schemas.openxmlformats.org/drawingml/2006/main">
            <a:pPr>
              <a:defRPr sz="2175" b="0">
                <a:solidFill>
                  <a:srgbClr val="183C35"/>
                </a:solidFill>
                <a:latin typeface="Arial"/>
                <a:ea typeface="Arial"/>
                <a:cs typeface="Arial"/>
              </a:defRPr>
            </a:pPr>
            <a:r>
              <a:rPr sz="2175" b="0">
                <a:solidFill>
                  <a:srgbClr val="183C35"/>
                </a:solidFill>
                <a:latin typeface="Arial"/>
                <a:ea typeface="Arial"/>
                <a:cs typeface="Arial"/>
              </a:rPr>
              <a:t>Demo tìm chuyến, A1, thanh toán và dashboard</a:t>
            </a:r>
          </a:p>
        </p:txBody>
      </p:sp>
      <p:sp>
        <p:nvSpPr>
          <p:cNvPr id="9" name="">
            <a:extLst xmlns:a="http://schemas.openxmlformats.org/drawingml/2006/main">
              <a:ext uri="{FF2B5EF4-FFF2-40B4-BE49-F238E27FC236}">
                <a16:creationId xmlns:a16="http://schemas.microsoft.com/office/drawing/2014/main" id="{765668C4-F32C-4A67-9BF4-6C98CC6388DE}"/>
              </a:ext>
            </a:extLst>
          </p:cNvPr>
          <p:cNvSpPr>
            <a:spLocks xmlns:a="http://schemas.openxmlformats.org/drawingml/2006/main" noGrp="1"/>
          </p:cNvSpPr>
          <p:nvPr/>
        </p:nvSpPr>
        <p:spPr>
          <a:xfrm xmlns:a="http://schemas.openxmlformats.org/drawingml/2006/main">
            <a:off x="762000" y="4562475"/>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B7163"/>
                </a:solidFill>
                <a:latin typeface="Arial"/>
                <a:ea typeface="Arial"/>
                <a:cs typeface="Arial"/>
              </a:defRPr>
            </a:defPPr>
          </a:lstStyle>
          <a:p xmlns:a="http://schemas.openxmlformats.org/drawingml/2006/main">
            <a:pPr>
              <a:defRPr sz="2550" b="1">
                <a:solidFill>
                  <a:srgbClr val="0B7163"/>
                </a:solidFill>
                <a:latin typeface="Arial"/>
                <a:ea typeface="Arial"/>
                <a:cs typeface="Arial"/>
              </a:defRPr>
            </a:pPr>
            <a:r>
              <a:rPr sz="2550" b="1">
                <a:solidFill>
                  <a:srgbClr val="0B7163"/>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B038CA22-3AB6-48B6-9F9F-C5A0B9FA0DB8}"/>
              </a:ext>
            </a:extLst>
          </p:cNvPr>
          <p:cNvSpPr>
            <a:spLocks xmlns:a="http://schemas.openxmlformats.org/drawingml/2006/main" noGrp="1"/>
          </p:cNvSpPr>
          <p:nvPr/>
        </p:nvSpPr>
        <p:spPr>
          <a:xfrm xmlns:a="http://schemas.openxmlformats.org/drawingml/2006/main">
            <a:off x="2238375" y="4591050"/>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3C35"/>
                </a:solidFill>
                <a:latin typeface="Arial"/>
                <a:ea typeface="Arial"/>
                <a:cs typeface="Arial"/>
              </a:defRPr>
            </a:defPPr>
          </a:lstStyle>
          <a:p xmlns:a="http://schemas.openxmlformats.org/drawingml/2006/main">
            <a:pPr>
              <a:defRPr sz="2175" b="0">
                <a:solidFill>
                  <a:srgbClr val="183C35"/>
                </a:solidFill>
                <a:latin typeface="Arial"/>
                <a:ea typeface="Arial"/>
                <a:cs typeface="Arial"/>
              </a:defRPr>
            </a:pPr>
            <a:r>
              <a:rPr sz="2175" b="0">
                <a:solidFill>
                  <a:srgbClr val="183C35"/>
                </a:solidFill>
                <a:latin typeface="Arial"/>
                <a:ea typeface="Arial"/>
                <a:cs typeface="Arial"/>
              </a:rPr>
              <a:t>Chạy concurrency, rollback và constraints</a:t>
            </a:r>
          </a:p>
        </p:txBody>
      </p:sp>
      <p:sp>
        <p:nvSpPr>
          <p:cNvPr id="11" name="">
            <a:extLst xmlns:a="http://schemas.openxmlformats.org/drawingml/2006/main">
              <a:ext uri="{FF2B5EF4-FFF2-40B4-BE49-F238E27FC236}">
                <a16:creationId xmlns:a16="http://schemas.microsoft.com/office/drawing/2014/main" id="{652F4171-F144-475B-816F-14DEBEE3E02B}"/>
              </a:ext>
            </a:extLst>
          </p:cNvPr>
          <p:cNvSpPr>
            <a:spLocks xmlns:a="http://schemas.openxmlformats.org/drawingml/2006/main" noGrp="1"/>
          </p:cNvSpPr>
          <p:nvPr/>
        </p:nvSpPr>
        <p:spPr>
          <a:xfrm xmlns:a="http://schemas.openxmlformats.org/drawingml/2006/main">
            <a:off x="762000" y="59245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E746C"/>
                </a:solidFill>
                <a:latin typeface="Arial"/>
                <a:ea typeface="Arial"/>
                <a:cs typeface="Arial"/>
              </a:defRPr>
            </a:defPPr>
          </a:lstStyle>
          <a:p xmlns:a="http://schemas.openxmlformats.org/drawingml/2006/main">
            <a:pPr>
              <a:defRPr sz="1650" b="0">
                <a:solidFill>
                  <a:srgbClr val="5E746C"/>
                </a:solidFill>
                <a:latin typeface="Arial"/>
                <a:ea typeface="Arial"/>
                <a:cs typeface="Arial"/>
              </a:defRPr>
            </a:pPr>
            <a:r>
              <a:rPr sz="1650" b="0">
                <a:solidFill>
                  <a:srgbClr val="5E746C"/>
                </a:solidFill>
                <a:latin typeface="Arial"/>
                <a:ea typeface="Arial"/>
                <a:cs typeface="Arial"/>
              </a:rPr>
              <a:t>Hướng dẫn chi tiết: README.md và DEMO.md</a:t>
            </a:r>
          </a:p>
        </p:txBody>
      </p:sp>
    </p:spTree>
    <p:extLst>
      <p:ext uri="{BB962C8B-B14F-4D97-AF65-F5344CB8AC3E}">
        <p14:creationId xmlns:p14="http://schemas.microsoft.com/office/powerpoint/2010/main" val="678359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2026-10-12T14:44:27.6450000Z</dcterms:created>
  <dcterms:modified xsi:type="dcterms:W3CDTF">2026-10-12T14:44:27.6450000Z</dcterms:modified>
</coreProperties>
</file>